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Classic" charset="1" panose="00000500000000000000"/>
      <p:regular r:id="rId17"/>
    </p:embeddedFont>
    <p:embeddedFont>
      <p:font typeface="Montserrat Classic Bold" charset="1" panose="00000800000000000000"/>
      <p:regular r:id="rId18"/>
    </p:embeddedFont>
    <p:embeddedFont>
      <p:font typeface="Montserrat Semi-Bold" charset="1" panose="00000700000000000000"/>
      <p:regular r:id="rId19"/>
    </p:embeddedFont>
    <p:embeddedFont>
      <p:font typeface="Archivo Black" charset="1" panose="020B0A03020202020B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png" Type="http://schemas.openxmlformats.org/officeDocument/2006/relationships/image"/><Relationship Id="rId7"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503126" y="2864807"/>
            <a:ext cx="16199555" cy="7800798"/>
          </a:xfrm>
          <a:prstGeom prst="rect">
            <a:avLst/>
          </a:prstGeom>
        </p:spPr>
        <p:txBody>
          <a:bodyPr anchor="t" rtlCol="false" tIns="0" lIns="0" bIns="0" rIns="0">
            <a:spAutoFit/>
          </a:bodyPr>
          <a:lstStyle/>
          <a:p>
            <a:pPr algn="l">
              <a:lnSpc>
                <a:spcPts val="5527"/>
              </a:lnSpc>
            </a:pPr>
            <a:r>
              <a:rPr lang="en-US" sz="3947">
                <a:solidFill>
                  <a:srgbClr val="000000"/>
                </a:solidFill>
                <a:latin typeface="Montserrat Classic"/>
                <a:ea typeface="Montserrat Classic"/>
                <a:cs typeface="Montserrat Classic"/>
                <a:sym typeface="Montserrat Classic"/>
              </a:rPr>
              <a:t>Startup Name: DigitalGuard</a:t>
            </a:r>
          </a:p>
          <a:p>
            <a:pPr algn="l">
              <a:lnSpc>
                <a:spcPts val="5527"/>
              </a:lnSpc>
            </a:pPr>
          </a:p>
          <a:p>
            <a:pPr algn="l">
              <a:lnSpc>
                <a:spcPts val="5527"/>
              </a:lnSpc>
            </a:pPr>
            <a:r>
              <a:rPr lang="en-US" sz="3947">
                <a:solidFill>
                  <a:srgbClr val="000000"/>
                </a:solidFill>
                <a:latin typeface="Montserrat Classic"/>
                <a:ea typeface="Montserrat Classic"/>
                <a:cs typeface="Montserrat Classic"/>
                <a:sym typeface="Montserrat Classic"/>
              </a:rPr>
              <a:t>Tagline: Your digital life, protected &amp; future-ready.</a:t>
            </a:r>
          </a:p>
          <a:p>
            <a:pPr algn="l">
              <a:lnSpc>
                <a:spcPts val="5527"/>
              </a:lnSpc>
            </a:pPr>
          </a:p>
          <a:p>
            <a:pPr algn="l">
              <a:lnSpc>
                <a:spcPts val="5527"/>
              </a:lnSpc>
            </a:pPr>
            <a:r>
              <a:rPr lang="en-US" sz="3947">
                <a:solidFill>
                  <a:srgbClr val="000000"/>
                </a:solidFill>
                <a:latin typeface="Montserrat Classic"/>
                <a:ea typeface="Montserrat Classic"/>
                <a:cs typeface="Montserrat Classic"/>
                <a:sym typeface="Montserrat Classic"/>
              </a:rPr>
              <a:t>Team Name: </a:t>
            </a:r>
            <a:r>
              <a:rPr lang="en-US" sz="3947">
                <a:solidFill>
                  <a:srgbClr val="F5214C"/>
                </a:solidFill>
                <a:latin typeface="Montserrat Classic"/>
                <a:ea typeface="Montserrat Classic"/>
                <a:cs typeface="Montserrat Classic"/>
                <a:sym typeface="Montserrat Classic"/>
              </a:rPr>
              <a:t>Dynamo</a:t>
            </a:r>
          </a:p>
          <a:p>
            <a:pPr algn="l">
              <a:lnSpc>
                <a:spcPts val="5527"/>
              </a:lnSpc>
            </a:pPr>
          </a:p>
          <a:p>
            <a:pPr algn="l">
              <a:lnSpc>
                <a:spcPts val="5527"/>
              </a:lnSpc>
            </a:pPr>
            <a:r>
              <a:rPr lang="en-US" sz="3947">
                <a:solidFill>
                  <a:srgbClr val="000000"/>
                </a:solidFill>
                <a:latin typeface="Montserrat Classic"/>
                <a:ea typeface="Montserrat Classic"/>
                <a:cs typeface="Montserrat Classic"/>
                <a:sym typeface="Montserrat Classic"/>
              </a:rPr>
              <a:t>Team ID: EJ25T735273</a:t>
            </a:r>
          </a:p>
          <a:p>
            <a:pPr algn="l">
              <a:lnSpc>
                <a:spcPts val="5527"/>
              </a:lnSpc>
            </a:pPr>
          </a:p>
          <a:p>
            <a:pPr algn="l">
              <a:lnSpc>
                <a:spcPts val="5527"/>
              </a:lnSpc>
            </a:pPr>
            <a:r>
              <a:rPr lang="en-US" sz="3947">
                <a:solidFill>
                  <a:srgbClr val="000000"/>
                </a:solidFill>
                <a:latin typeface="Montserrat Classic"/>
                <a:ea typeface="Montserrat Classic"/>
                <a:cs typeface="Montserrat Classic"/>
                <a:sym typeface="Montserrat Classic"/>
              </a:rPr>
              <a:t>Team Members: Mayank Raj, Atulya Jha, Lavanya Pataiya</a:t>
            </a:r>
          </a:p>
          <a:p>
            <a:pPr algn="l">
              <a:lnSpc>
                <a:spcPts val="5527"/>
              </a:lnSpc>
            </a:pPr>
          </a:p>
          <a:p>
            <a:pPr algn="l">
              <a:lnSpc>
                <a:spcPts val="6579"/>
              </a:lnSpc>
            </a:pPr>
          </a:p>
        </p:txBody>
      </p:sp>
      <p:sp>
        <p:nvSpPr>
          <p:cNvPr name="Freeform 3" id="3"/>
          <p:cNvSpPr/>
          <p:nvPr/>
        </p:nvSpPr>
        <p:spPr>
          <a:xfrm flipH="false" flipV="false" rot="0">
            <a:off x="11780989" y="418044"/>
            <a:ext cx="6191526" cy="1380194"/>
          </a:xfrm>
          <a:custGeom>
            <a:avLst/>
            <a:gdLst/>
            <a:ahLst/>
            <a:cxnLst/>
            <a:rect r="r" b="b" t="t" l="l"/>
            <a:pathLst>
              <a:path h="1380194" w="6191526">
                <a:moveTo>
                  <a:pt x="0" y="0"/>
                </a:moveTo>
                <a:lnTo>
                  <a:pt x="6191525" y="0"/>
                </a:lnTo>
                <a:lnTo>
                  <a:pt x="6191525" y="1380194"/>
                </a:lnTo>
                <a:lnTo>
                  <a:pt x="0" y="1380194"/>
                </a:lnTo>
                <a:lnTo>
                  <a:pt x="0" y="0"/>
                </a:lnTo>
                <a:close/>
              </a:path>
            </a:pathLst>
          </a:custGeom>
          <a:blipFill>
            <a:blip r:embed="rId2"/>
            <a:stretch>
              <a:fillRect l="0" t="0" r="0" b="0"/>
            </a:stretch>
          </a:blipFill>
        </p:spPr>
      </p:sp>
      <p:sp>
        <p:nvSpPr>
          <p:cNvPr name="Freeform 4" id="4"/>
          <p:cNvSpPr/>
          <p:nvPr/>
        </p:nvSpPr>
        <p:spPr>
          <a:xfrm flipH="false" flipV="false" rot="0">
            <a:off x="14079198" y="2144655"/>
            <a:ext cx="1595106" cy="1964704"/>
          </a:xfrm>
          <a:custGeom>
            <a:avLst/>
            <a:gdLst/>
            <a:ahLst/>
            <a:cxnLst/>
            <a:rect r="r" b="b" t="t" l="l"/>
            <a:pathLst>
              <a:path h="1964704" w="1595106">
                <a:moveTo>
                  <a:pt x="0" y="0"/>
                </a:moveTo>
                <a:lnTo>
                  <a:pt x="1595106" y="0"/>
                </a:lnTo>
                <a:lnTo>
                  <a:pt x="1595106" y="1964704"/>
                </a:lnTo>
                <a:lnTo>
                  <a:pt x="0" y="1964704"/>
                </a:lnTo>
                <a:lnTo>
                  <a:pt x="0" y="0"/>
                </a:lnTo>
                <a:close/>
              </a:path>
            </a:pathLst>
          </a:custGeom>
          <a:blipFill>
            <a:blip r:embed="rId3"/>
            <a:stretch>
              <a:fillRect l="0" t="0" r="0" b="0"/>
            </a:stretch>
          </a:blipFill>
        </p:spPr>
      </p:sp>
      <p:sp>
        <p:nvSpPr>
          <p:cNvPr name="Freeform 5" id="5"/>
          <p:cNvSpPr/>
          <p:nvPr/>
        </p:nvSpPr>
        <p:spPr>
          <a:xfrm flipH="false" flipV="false" rot="-6000">
            <a:off x="274389" y="227482"/>
            <a:ext cx="4651320" cy="2116170"/>
          </a:xfrm>
          <a:custGeom>
            <a:avLst/>
            <a:gdLst/>
            <a:ahLst/>
            <a:cxnLst/>
            <a:rect r="r" b="b" t="t" l="l"/>
            <a:pathLst>
              <a:path h="2116170" w="4651320">
                <a:moveTo>
                  <a:pt x="3679" y="0"/>
                </a:moveTo>
                <a:lnTo>
                  <a:pt x="4651320" y="8111"/>
                </a:lnTo>
                <a:lnTo>
                  <a:pt x="4647641" y="2116169"/>
                </a:lnTo>
                <a:lnTo>
                  <a:pt x="0" y="2108058"/>
                </a:lnTo>
                <a:lnTo>
                  <a:pt x="3679" y="0"/>
                </a:lnTo>
                <a:close/>
              </a:path>
            </a:pathLst>
          </a:custGeom>
          <a:blipFill>
            <a:blip r:embed="rId4">
              <a:extLst>
                <a:ext uri="{96DAC541-7B7A-43D3-8B79-37D633B846F1}">
                  <asvg:svgBlip xmlns:asvg="http://schemas.microsoft.com/office/drawing/2016/SVG/main" r:embed="rId5"/>
                </a:ext>
              </a:extLst>
            </a:blip>
            <a:stretch>
              <a:fillRect l="-1567" t="-108" r="39" b="-1110"/>
            </a:stretch>
          </a:blipFill>
        </p:spPr>
      </p:sp>
      <p:sp>
        <p:nvSpPr>
          <p:cNvPr name="TextBox 6" id="6"/>
          <p:cNvSpPr txBox="true"/>
          <p:nvPr/>
        </p:nvSpPr>
        <p:spPr>
          <a:xfrm rot="0">
            <a:off x="-6079" y="641734"/>
            <a:ext cx="5212255" cy="837564"/>
          </a:xfrm>
          <a:prstGeom prst="rect">
            <a:avLst/>
          </a:prstGeom>
        </p:spPr>
        <p:txBody>
          <a:bodyPr anchor="t" rtlCol="false" tIns="0" lIns="0" bIns="0" rIns="0">
            <a:spAutoFit/>
          </a:bodyPr>
          <a:lstStyle/>
          <a:p>
            <a:pPr algn="ctr">
              <a:lnSpc>
                <a:spcPts val="6860"/>
              </a:lnSpc>
              <a:spcBef>
                <a:spcPct val="0"/>
              </a:spcBef>
            </a:pPr>
            <a:r>
              <a:rPr lang="en-US" b="true" sz="4900">
                <a:solidFill>
                  <a:srgbClr val="FFFFFF"/>
                </a:solidFill>
                <a:latin typeface="Montserrat Classic Bold"/>
                <a:ea typeface="Montserrat Classic Bold"/>
                <a:cs typeface="Montserrat Classic Bold"/>
                <a:sym typeface="Montserrat Classic Bold"/>
              </a:rPr>
              <a:t>COVER PAGE</a:t>
            </a:r>
          </a:p>
        </p:txBody>
      </p:sp>
      <p:sp>
        <p:nvSpPr>
          <p:cNvPr name="Freeform 7" id="7"/>
          <p:cNvSpPr/>
          <p:nvPr/>
        </p:nvSpPr>
        <p:spPr>
          <a:xfrm flipH="false" flipV="false" rot="4153637">
            <a:off x="-8771933" y="9074794"/>
            <a:ext cx="14471478" cy="14471478"/>
          </a:xfrm>
          <a:custGeom>
            <a:avLst/>
            <a:gdLst/>
            <a:ahLst/>
            <a:cxnLst/>
            <a:rect r="r" b="b" t="t" l="l"/>
            <a:pathLst>
              <a:path h="14471478" w="14471478">
                <a:moveTo>
                  <a:pt x="0" y="0"/>
                </a:moveTo>
                <a:lnTo>
                  <a:pt x="14471478" y="0"/>
                </a:lnTo>
                <a:lnTo>
                  <a:pt x="14471478" y="14471478"/>
                </a:lnTo>
                <a:lnTo>
                  <a:pt x="0" y="144714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4153637">
            <a:off x="-6357507" y="9507814"/>
            <a:ext cx="14471478" cy="14471478"/>
          </a:xfrm>
          <a:custGeom>
            <a:avLst/>
            <a:gdLst/>
            <a:ahLst/>
            <a:cxnLst/>
            <a:rect r="r" b="b" t="t" l="l"/>
            <a:pathLst>
              <a:path h="14471478" w="14471478">
                <a:moveTo>
                  <a:pt x="0" y="0"/>
                </a:moveTo>
                <a:lnTo>
                  <a:pt x="14471478" y="0"/>
                </a:lnTo>
                <a:lnTo>
                  <a:pt x="14471478" y="14471478"/>
                </a:lnTo>
                <a:lnTo>
                  <a:pt x="0" y="144714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76225" y="156041"/>
            <a:ext cx="4647648" cy="2108061"/>
          </a:xfrm>
          <a:custGeom>
            <a:avLst/>
            <a:gdLst/>
            <a:ahLst/>
            <a:cxnLst/>
            <a:rect r="r" b="b" t="t" l="l"/>
            <a:pathLst>
              <a:path h="2108061" w="4647648">
                <a:moveTo>
                  <a:pt x="0" y="0"/>
                </a:moveTo>
                <a:lnTo>
                  <a:pt x="4647648" y="0"/>
                </a:lnTo>
                <a:lnTo>
                  <a:pt x="4647648" y="2108061"/>
                </a:lnTo>
                <a:lnTo>
                  <a:pt x="0" y="21080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21788" y="427673"/>
            <a:ext cx="4689231" cy="1078230"/>
          </a:xfrm>
          <a:prstGeom prst="rect">
            <a:avLst/>
          </a:prstGeom>
        </p:spPr>
        <p:txBody>
          <a:bodyPr anchor="t" rtlCol="false" tIns="0" lIns="0" bIns="0" rIns="0">
            <a:spAutoFit/>
          </a:bodyPr>
          <a:lstStyle/>
          <a:p>
            <a:pPr algn="l">
              <a:lnSpc>
                <a:spcPts val="8820"/>
              </a:lnSpc>
              <a:spcBef>
                <a:spcPct val="0"/>
              </a:spcBef>
            </a:pPr>
            <a:r>
              <a:rPr lang="en-US" b="true" sz="6300">
                <a:solidFill>
                  <a:srgbClr val="FFFFFF"/>
                </a:solidFill>
                <a:latin typeface="Montserrat Classic Bold"/>
                <a:ea typeface="Montserrat Classic Bold"/>
                <a:cs typeface="Montserrat Classic Bold"/>
                <a:sym typeface="Montserrat Classic Bold"/>
              </a:rPr>
              <a:t>PROBLEM</a:t>
            </a:r>
          </a:p>
        </p:txBody>
      </p:sp>
      <p:sp>
        <p:nvSpPr>
          <p:cNvPr name="Freeform 5" id="5"/>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6"/>
            <a:stretch>
              <a:fillRect l="0" t="0" r="0" b="0"/>
            </a:stretch>
          </a:blipFill>
        </p:spPr>
      </p:sp>
      <p:sp>
        <p:nvSpPr>
          <p:cNvPr name="TextBox 6" id="6"/>
          <p:cNvSpPr txBox="true"/>
          <p:nvPr/>
        </p:nvSpPr>
        <p:spPr>
          <a:xfrm rot="0">
            <a:off x="621788" y="2467414"/>
            <a:ext cx="15177186" cy="2415623"/>
          </a:xfrm>
          <a:prstGeom prst="rect">
            <a:avLst/>
          </a:prstGeom>
        </p:spPr>
        <p:txBody>
          <a:bodyPr anchor="t" rtlCol="false" tIns="0" lIns="0" bIns="0" rIns="0">
            <a:spAutoFit/>
          </a:bodyPr>
          <a:lstStyle/>
          <a:p>
            <a:pPr algn="l">
              <a:lnSpc>
                <a:spcPts val="3880"/>
              </a:lnSpc>
            </a:pPr>
            <a:r>
              <a:rPr lang="en-US" sz="2771">
                <a:solidFill>
                  <a:srgbClr val="000000"/>
                </a:solidFill>
                <a:latin typeface="Montserrat Semi-Bold"/>
                <a:ea typeface="Montserrat Semi-Bold"/>
                <a:cs typeface="Montserrat Semi-Bold"/>
                <a:sym typeface="Montserrat Semi-Bold"/>
              </a:rPr>
              <a:t>The Digital Footprint Crisis</a:t>
            </a:r>
          </a:p>
          <a:p>
            <a:pPr algn="l">
              <a:lnSpc>
                <a:spcPts val="3880"/>
              </a:lnSpc>
            </a:pPr>
            <a:r>
              <a:rPr lang="en-US" sz="2771">
                <a:solidFill>
                  <a:srgbClr val="000000"/>
                </a:solidFill>
                <a:latin typeface="Montserrat Semi-Bold"/>
                <a:ea typeface="Montserrat Semi-Bold"/>
                <a:cs typeface="Montserrat Semi-Bold"/>
                <a:sym typeface="Montserrat Semi-Bold"/>
              </a:rPr>
              <a:t>Every post, comment, and share creates a permanent digital footprint.</a:t>
            </a:r>
          </a:p>
          <a:p>
            <a:pPr algn="l">
              <a:lnSpc>
                <a:spcPts val="3880"/>
              </a:lnSpc>
            </a:pPr>
            <a:r>
              <a:rPr lang="en-US" sz="2771">
                <a:solidFill>
                  <a:srgbClr val="000000"/>
                </a:solidFill>
                <a:latin typeface="Montserrat Semi-Bold"/>
                <a:ea typeface="Montserrat Semi-Bold"/>
                <a:cs typeface="Montserrat Semi-Bold"/>
                <a:sym typeface="Montserrat Semi-Bold"/>
              </a:rPr>
              <a:t> But most teenagers believe “delete = gone,” even though deleted content still remains stored on servers and can resurface anytime.</a:t>
            </a:r>
          </a:p>
          <a:p>
            <a:pPr algn="l">
              <a:lnSpc>
                <a:spcPts val="3880"/>
              </a:lnSpc>
            </a:pPr>
          </a:p>
        </p:txBody>
      </p:sp>
      <p:sp>
        <p:nvSpPr>
          <p:cNvPr name="TextBox 7" id="7"/>
          <p:cNvSpPr txBox="true"/>
          <p:nvPr/>
        </p:nvSpPr>
        <p:spPr>
          <a:xfrm rot="0">
            <a:off x="621788" y="5095875"/>
            <a:ext cx="14657871" cy="3004065"/>
          </a:xfrm>
          <a:prstGeom prst="rect">
            <a:avLst/>
          </a:prstGeom>
        </p:spPr>
        <p:txBody>
          <a:bodyPr anchor="t" rtlCol="false" tIns="0" lIns="0" bIns="0" rIns="0">
            <a:spAutoFit/>
          </a:bodyPr>
          <a:lstStyle/>
          <a:p>
            <a:pPr algn="l">
              <a:lnSpc>
                <a:spcPts val="3996"/>
              </a:lnSpc>
            </a:pPr>
            <a:r>
              <a:rPr lang="en-US" sz="2854">
                <a:solidFill>
                  <a:srgbClr val="000000"/>
                </a:solidFill>
                <a:latin typeface="Montserrat Semi-Bold"/>
                <a:ea typeface="Montserrat Semi-Bold"/>
                <a:cs typeface="Montserrat Semi-Bold"/>
                <a:sym typeface="Montserrat Semi-Bold"/>
              </a:rPr>
              <a:t> </a:t>
            </a:r>
            <a:r>
              <a:rPr lang="en-US" sz="2854">
                <a:solidFill>
                  <a:srgbClr val="000000"/>
                </a:solidFill>
                <a:latin typeface="Montserrat Semi-Bold"/>
                <a:ea typeface="Montserrat Semi-Bold"/>
                <a:cs typeface="Montserrat Semi-Bold"/>
                <a:sym typeface="Montserrat Semi-Bold"/>
              </a:rPr>
              <a:t>Key Data &amp; Statistics</a:t>
            </a:r>
          </a:p>
          <a:p>
            <a:pPr algn="l" marL="616337" indent="-308168" lvl="1">
              <a:lnSpc>
                <a:spcPts val="3996"/>
              </a:lnSpc>
              <a:buFont typeface="Arial"/>
              <a:buChar char="•"/>
            </a:pPr>
            <a:r>
              <a:rPr lang="en-US" sz="2854">
                <a:solidFill>
                  <a:srgbClr val="000000"/>
                </a:solidFill>
                <a:latin typeface="Montserrat Semi-Bold"/>
                <a:ea typeface="Montserrat Semi-Bold"/>
                <a:cs typeface="Montserrat Semi-Bold"/>
                <a:sym typeface="Montserrat Semi-Bold"/>
              </a:rPr>
              <a:t>73% of teenagers regret something they posted online.</a:t>
            </a:r>
          </a:p>
          <a:p>
            <a:pPr algn="l" marL="616337" indent="-308168" lvl="1">
              <a:lnSpc>
                <a:spcPts val="3996"/>
              </a:lnSpc>
              <a:buFont typeface="Arial"/>
              <a:buChar char="•"/>
            </a:pPr>
            <a:r>
              <a:rPr lang="en-US" sz="2854">
                <a:solidFill>
                  <a:srgbClr val="000000"/>
                </a:solidFill>
                <a:latin typeface="Montserrat Semi-Bold"/>
                <a:ea typeface="Montserrat Semi-Bold"/>
                <a:cs typeface="Montserrat Semi-Bold"/>
                <a:sym typeface="Montserrat Semi-Bold"/>
              </a:rPr>
              <a:t>Digital threats have increased by 42% year-on-year.</a:t>
            </a:r>
          </a:p>
          <a:p>
            <a:pPr algn="l" marL="616337" indent="-308168" lvl="1">
              <a:lnSpc>
                <a:spcPts val="3996"/>
              </a:lnSpc>
              <a:buFont typeface="Arial"/>
              <a:buChar char="•"/>
            </a:pPr>
            <a:r>
              <a:rPr lang="en-US" sz="2854">
                <a:solidFill>
                  <a:srgbClr val="000000"/>
                </a:solidFill>
                <a:latin typeface="Montserrat Semi-Bold"/>
                <a:ea typeface="Montserrat Semi-Bold"/>
                <a:cs typeface="Montserrat Semi-Bold"/>
                <a:sym typeface="Montserrat Semi-Bold"/>
              </a:rPr>
              <a:t>85% of students lack any formal digital safety training in school.</a:t>
            </a:r>
          </a:p>
          <a:p>
            <a:pPr algn="l" marL="616337" indent="-308168" lvl="1">
              <a:lnSpc>
                <a:spcPts val="3996"/>
              </a:lnSpc>
              <a:buFont typeface="Arial"/>
              <a:buChar char="•"/>
            </a:pPr>
            <a:r>
              <a:rPr lang="en-US" sz="2854">
                <a:solidFill>
                  <a:srgbClr val="000000"/>
                </a:solidFill>
                <a:latin typeface="Montserrat Semi-Bold"/>
                <a:ea typeface="Montserrat Semi-Bold"/>
                <a:cs typeface="Montserrat Semi-Bold"/>
                <a:sym typeface="Montserrat Semi-Bold"/>
              </a:rPr>
              <a:t>Teenagers spend 4–6 hours daily on social media, increasing exposure to risks.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63286" y="0"/>
            <a:ext cx="4237182" cy="1921884"/>
          </a:xfrm>
          <a:custGeom>
            <a:avLst/>
            <a:gdLst/>
            <a:ahLst/>
            <a:cxnLst/>
            <a:rect r="r" b="b" t="t" l="l"/>
            <a:pathLst>
              <a:path h="1921884" w="4237182">
                <a:moveTo>
                  <a:pt x="0" y="0"/>
                </a:moveTo>
                <a:lnTo>
                  <a:pt x="4237182" y="0"/>
                </a:lnTo>
                <a:lnTo>
                  <a:pt x="4237182" y="1921884"/>
                </a:lnTo>
                <a:lnTo>
                  <a:pt x="0" y="19218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32837" y="303744"/>
            <a:ext cx="4636824" cy="962659"/>
          </a:xfrm>
          <a:prstGeom prst="rect">
            <a:avLst/>
          </a:prstGeom>
        </p:spPr>
        <p:txBody>
          <a:bodyPr anchor="t" rtlCol="false" tIns="0" lIns="0" bIns="0" rIns="0">
            <a:spAutoFit/>
          </a:bodyPr>
          <a:lstStyle/>
          <a:p>
            <a:pPr algn="l">
              <a:lnSpc>
                <a:spcPts val="7840"/>
              </a:lnSpc>
              <a:spcBef>
                <a:spcPct val="0"/>
              </a:spcBef>
            </a:pPr>
            <a:r>
              <a:rPr lang="en-US" b="true" sz="5600">
                <a:solidFill>
                  <a:srgbClr val="FFFFFF"/>
                </a:solidFill>
                <a:latin typeface="Montserrat Classic Bold"/>
                <a:ea typeface="Montserrat Classic Bold"/>
                <a:cs typeface="Montserrat Classic Bold"/>
                <a:sym typeface="Montserrat Classic Bold"/>
              </a:rPr>
              <a:t>SOLUTION</a:t>
            </a:r>
          </a:p>
        </p:txBody>
      </p:sp>
      <p:sp>
        <p:nvSpPr>
          <p:cNvPr name="Freeform 4" id="4"/>
          <p:cNvSpPr/>
          <p:nvPr/>
        </p:nvSpPr>
        <p:spPr>
          <a:xfrm flipH="false" flipV="false" rot="4153637">
            <a:off x="-6310006" y="9766972"/>
            <a:ext cx="14245106" cy="14245106"/>
          </a:xfrm>
          <a:custGeom>
            <a:avLst/>
            <a:gdLst/>
            <a:ahLst/>
            <a:cxnLst/>
            <a:rect r="r" b="b" t="t" l="l"/>
            <a:pathLst>
              <a:path h="14245106" w="14245106">
                <a:moveTo>
                  <a:pt x="0" y="0"/>
                </a:moveTo>
                <a:lnTo>
                  <a:pt x="14245106" y="0"/>
                </a:lnTo>
                <a:lnTo>
                  <a:pt x="14245106" y="14245105"/>
                </a:lnTo>
                <a:lnTo>
                  <a:pt x="0" y="14245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6"/>
            <a:stretch>
              <a:fillRect l="0" t="0" r="0" b="0"/>
            </a:stretch>
          </a:blipFill>
        </p:spPr>
      </p:sp>
      <p:sp>
        <p:nvSpPr>
          <p:cNvPr name="TextBox 6" id="6"/>
          <p:cNvSpPr txBox="true"/>
          <p:nvPr/>
        </p:nvSpPr>
        <p:spPr>
          <a:xfrm rot="0">
            <a:off x="1107445" y="1854835"/>
            <a:ext cx="16865069" cy="2501265"/>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Montserrat Classic Bold"/>
                <a:ea typeface="Montserrat Classic Bold"/>
                <a:cs typeface="Montserrat Classic Bold"/>
                <a:sym typeface="Montserrat Classic Bold"/>
              </a:rPr>
              <a:t>DIGITALGUARD</a:t>
            </a:r>
            <a:r>
              <a:rPr lang="en-US" b="true" sz="2400">
                <a:solidFill>
                  <a:srgbClr val="000000"/>
                </a:solidFill>
                <a:latin typeface="Montserrat Classic Bold"/>
                <a:ea typeface="Montserrat Classic Bold"/>
                <a:cs typeface="Montserrat Classic Bold"/>
                <a:sym typeface="Montserrat Classic Bold"/>
              </a:rPr>
              <a:t>:  A COMPLETE DIGITAL SAFETY ECOSYSTEM</a:t>
            </a:r>
          </a:p>
          <a:p>
            <a:pPr algn="l">
              <a:lnSpc>
                <a:spcPts val="3359"/>
              </a:lnSpc>
              <a:spcBef>
                <a:spcPct val="0"/>
              </a:spcBef>
            </a:pPr>
          </a:p>
          <a:p>
            <a:pPr algn="l">
              <a:lnSpc>
                <a:spcPts val="3359"/>
              </a:lnSpc>
              <a:spcBef>
                <a:spcPct val="0"/>
              </a:spcBef>
            </a:pPr>
            <a:r>
              <a:rPr lang="en-US" sz="2400">
                <a:solidFill>
                  <a:srgbClr val="000000"/>
                </a:solidFill>
                <a:latin typeface="Montserrat Semi-Bold"/>
                <a:ea typeface="Montserrat Semi-Bold"/>
                <a:cs typeface="Montserrat Semi-Bold"/>
                <a:sym typeface="Montserrat Semi-Bold"/>
              </a:rPr>
              <a:t>DIGITALGUARD SOLVES THE DIGITAL FOOTPRINT CRISIS BY COMBINING EDUCATION, REAL-TIME PROTECTION, AND INSTITUTIONAL MONITORING IN ONE PLATFORM. UNLIKE TOOLS THAT ONLY BLOCK CONTENT OR GIVE BASIC TIPS, DIGITALGUARD ACTIVELY GUIDES TEENS, PREVENTS UNSAFE POSTS, AND PROVIDES CLEAR ANALYTICS FOR SCHOOLS AND COMPANIES.</a:t>
            </a:r>
          </a:p>
        </p:txBody>
      </p:sp>
      <p:sp>
        <p:nvSpPr>
          <p:cNvPr name="TextBox 7" id="7"/>
          <p:cNvSpPr txBox="true"/>
          <p:nvPr/>
        </p:nvSpPr>
        <p:spPr>
          <a:xfrm rot="0">
            <a:off x="4300229" y="4679950"/>
            <a:ext cx="8762256" cy="1012190"/>
          </a:xfrm>
          <a:prstGeom prst="rect">
            <a:avLst/>
          </a:prstGeom>
        </p:spPr>
        <p:txBody>
          <a:bodyPr anchor="t" rtlCol="false" tIns="0" lIns="0" bIns="0" rIns="0">
            <a:spAutoFit/>
          </a:bodyPr>
          <a:lstStyle/>
          <a:p>
            <a:pPr algn="ctr">
              <a:lnSpc>
                <a:spcPts val="4059"/>
              </a:lnSpc>
              <a:spcBef>
                <a:spcPct val="0"/>
              </a:spcBef>
            </a:pPr>
            <a:r>
              <a:rPr lang="en-US" sz="2899">
                <a:solidFill>
                  <a:srgbClr val="FF3131"/>
                </a:solidFill>
                <a:latin typeface="Montserrat Classic"/>
                <a:ea typeface="Montserrat Classic"/>
                <a:cs typeface="Montserrat Classic"/>
                <a:sym typeface="Montserrat Classic"/>
              </a:rPr>
              <a:t>Unique Value Proposition</a:t>
            </a:r>
          </a:p>
          <a:p>
            <a:pPr algn="ctr">
              <a:lnSpc>
                <a:spcPts val="4059"/>
              </a:lnSpc>
              <a:spcBef>
                <a:spcPct val="0"/>
              </a:spcBef>
            </a:pPr>
            <a:r>
              <a:rPr lang="en-US" sz="2899">
                <a:solidFill>
                  <a:srgbClr val="000000"/>
                </a:solidFill>
                <a:latin typeface="Archivo Black"/>
                <a:ea typeface="Archivo Black"/>
                <a:cs typeface="Archivo Black"/>
                <a:sym typeface="Archivo Black"/>
              </a:rPr>
              <a:t>“Your digital life, protected &amp; future-ready.”</a:t>
            </a:r>
          </a:p>
        </p:txBody>
      </p:sp>
      <p:sp>
        <p:nvSpPr>
          <p:cNvPr name="TextBox 8" id="8"/>
          <p:cNvSpPr txBox="true"/>
          <p:nvPr/>
        </p:nvSpPr>
        <p:spPr>
          <a:xfrm rot="0">
            <a:off x="4130870" y="6023631"/>
            <a:ext cx="10026260" cy="4265525"/>
          </a:xfrm>
          <a:prstGeom prst="rect">
            <a:avLst/>
          </a:prstGeom>
        </p:spPr>
        <p:txBody>
          <a:bodyPr anchor="t" rtlCol="false" tIns="0" lIns="0" bIns="0" rIns="0">
            <a:spAutoFit/>
          </a:bodyPr>
          <a:lstStyle/>
          <a:p>
            <a:pPr algn="ctr">
              <a:lnSpc>
                <a:spcPts val="3767"/>
              </a:lnSpc>
              <a:spcBef>
                <a:spcPct val="0"/>
              </a:spcBef>
            </a:pPr>
            <a:r>
              <a:rPr lang="en-US" sz="2690">
                <a:solidFill>
                  <a:srgbClr val="000000"/>
                </a:solidFill>
                <a:latin typeface="Montserrat Semi-Bold"/>
                <a:ea typeface="Montserrat Semi-Bold"/>
                <a:cs typeface="Montserrat Semi-Bold"/>
                <a:sym typeface="Montserrat Semi-Bold"/>
              </a:rPr>
              <a:t>Key Features &amp; Advantages</a:t>
            </a:r>
          </a:p>
          <a:p>
            <a:pPr algn="ctr" marL="580976" indent="-290488" lvl="1">
              <a:lnSpc>
                <a:spcPts val="3767"/>
              </a:lnSpc>
              <a:spcBef>
                <a:spcPct val="0"/>
              </a:spcBef>
              <a:buFont typeface="Arial"/>
              <a:buChar char="•"/>
            </a:pPr>
            <a:r>
              <a:rPr lang="en-US" sz="2690">
                <a:solidFill>
                  <a:srgbClr val="000000"/>
                </a:solidFill>
                <a:latin typeface="Montserrat Semi-Bold"/>
                <a:ea typeface="Montserrat Semi-Bold"/>
                <a:cs typeface="Montserrat Semi-Bold"/>
                <a:sym typeface="Montserrat Semi-Bold"/>
              </a:rPr>
              <a:t>Real-time risky-post detection</a:t>
            </a:r>
          </a:p>
          <a:p>
            <a:pPr algn="ctr" marL="580976" indent="-290488" lvl="1">
              <a:lnSpc>
                <a:spcPts val="3767"/>
              </a:lnSpc>
              <a:spcBef>
                <a:spcPct val="0"/>
              </a:spcBef>
              <a:buFont typeface="Arial"/>
              <a:buChar char="•"/>
            </a:pPr>
            <a:r>
              <a:rPr lang="en-US" sz="2690">
                <a:solidFill>
                  <a:srgbClr val="000000"/>
                </a:solidFill>
                <a:latin typeface="Montserrat Semi-Bold"/>
                <a:ea typeface="Montserrat Semi-Bold"/>
                <a:cs typeface="Montserrat Semi-Bold"/>
                <a:sym typeface="Montserrat Semi-Bold"/>
              </a:rPr>
              <a:t>Privacy-first: no user data stored</a:t>
            </a:r>
          </a:p>
          <a:p>
            <a:pPr algn="ctr" marL="580976" indent="-290488" lvl="1">
              <a:lnSpc>
                <a:spcPts val="3767"/>
              </a:lnSpc>
              <a:spcBef>
                <a:spcPct val="0"/>
              </a:spcBef>
              <a:buFont typeface="Arial"/>
              <a:buChar char="•"/>
            </a:pPr>
            <a:r>
              <a:rPr lang="en-US" sz="2690">
                <a:solidFill>
                  <a:srgbClr val="000000"/>
                </a:solidFill>
                <a:latin typeface="Montserrat Semi-Bold"/>
                <a:ea typeface="Montserrat Semi-Bold"/>
                <a:cs typeface="Montserrat Semi-Bold"/>
                <a:sym typeface="Montserrat Semi-Bold"/>
              </a:rPr>
              <a:t>Teen-friendly awareness website</a:t>
            </a:r>
          </a:p>
          <a:p>
            <a:pPr algn="ctr" marL="580976" indent="-290488" lvl="1">
              <a:lnSpc>
                <a:spcPts val="3767"/>
              </a:lnSpc>
              <a:spcBef>
                <a:spcPct val="0"/>
              </a:spcBef>
              <a:buFont typeface="Arial"/>
              <a:buChar char="•"/>
            </a:pPr>
            <a:r>
              <a:rPr lang="en-US" sz="2690">
                <a:solidFill>
                  <a:srgbClr val="000000"/>
                </a:solidFill>
                <a:latin typeface="Montserrat Semi-Bold"/>
                <a:ea typeface="Montserrat Semi-Bold"/>
                <a:cs typeface="Montserrat Semi-Bold"/>
                <a:sym typeface="Montserrat Semi-Bold"/>
              </a:rPr>
              <a:t>Smart extension across major platforms</a:t>
            </a:r>
          </a:p>
          <a:p>
            <a:pPr algn="ctr" marL="580976" indent="-290488" lvl="1">
              <a:lnSpc>
                <a:spcPts val="3767"/>
              </a:lnSpc>
              <a:spcBef>
                <a:spcPct val="0"/>
              </a:spcBef>
              <a:buFont typeface="Arial"/>
              <a:buChar char="•"/>
            </a:pPr>
            <a:r>
              <a:rPr lang="en-US" sz="2690">
                <a:solidFill>
                  <a:srgbClr val="000000"/>
                </a:solidFill>
                <a:latin typeface="Montserrat Semi-Bold"/>
                <a:ea typeface="Montserrat Semi-Bold"/>
                <a:cs typeface="Montserrat Semi-Bold"/>
                <a:sym typeface="Montserrat Semi-Bold"/>
              </a:rPr>
              <a:t>Dashboards for schools &amp; corporates</a:t>
            </a:r>
          </a:p>
          <a:p>
            <a:pPr algn="ctr" marL="580976" indent="-290488" lvl="1">
              <a:lnSpc>
                <a:spcPts val="3767"/>
              </a:lnSpc>
              <a:spcBef>
                <a:spcPct val="0"/>
              </a:spcBef>
              <a:buFont typeface="Arial"/>
              <a:buChar char="•"/>
            </a:pPr>
            <a:r>
              <a:rPr lang="en-US" sz="2690">
                <a:solidFill>
                  <a:srgbClr val="000000"/>
                </a:solidFill>
                <a:latin typeface="Montserrat Semi-Bold"/>
                <a:ea typeface="Montserrat Semi-Bold"/>
                <a:cs typeface="Montserrat Semi-Bold"/>
                <a:sym typeface="Montserrat Semi-Bold"/>
              </a:rPr>
              <a:t>Scales from individuals → institutions</a:t>
            </a:r>
          </a:p>
          <a:p>
            <a:pPr algn="ctr" marL="580976" indent="-290488" lvl="1">
              <a:lnSpc>
                <a:spcPts val="3767"/>
              </a:lnSpc>
              <a:spcBef>
                <a:spcPct val="0"/>
              </a:spcBef>
              <a:buFont typeface="Arial"/>
              <a:buChar char="•"/>
            </a:pPr>
            <a:r>
              <a:rPr lang="en-US" sz="2690">
                <a:solidFill>
                  <a:srgbClr val="000000"/>
                </a:solidFill>
                <a:latin typeface="Montserrat Semi-Bold"/>
                <a:ea typeface="Montserrat Semi-Bold"/>
                <a:cs typeface="Montserrat Semi-Bold"/>
                <a:sym typeface="Montserrat Semi-Bold"/>
              </a:rPr>
              <a:t>Unified ecosystem: learn + protect + analyze</a:t>
            </a:r>
          </a:p>
          <a:p>
            <a:pPr algn="ctr">
              <a:lnSpc>
                <a:spcPts val="3767"/>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34905" y="34189"/>
            <a:ext cx="4200698" cy="1905335"/>
          </a:xfrm>
          <a:custGeom>
            <a:avLst/>
            <a:gdLst/>
            <a:ahLst/>
            <a:cxnLst/>
            <a:rect r="r" b="b" t="t" l="l"/>
            <a:pathLst>
              <a:path h="1905335" w="4200698">
                <a:moveTo>
                  <a:pt x="0" y="0"/>
                </a:moveTo>
                <a:lnTo>
                  <a:pt x="4200698" y="0"/>
                </a:lnTo>
                <a:lnTo>
                  <a:pt x="4200698" y="1905335"/>
                </a:lnTo>
                <a:lnTo>
                  <a:pt x="0" y="1905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53637">
            <a:off x="-6299129" y="9826319"/>
            <a:ext cx="14193266" cy="14193266"/>
          </a:xfrm>
          <a:custGeom>
            <a:avLst/>
            <a:gdLst/>
            <a:ahLst/>
            <a:cxnLst/>
            <a:rect r="r" b="b" t="t" l="l"/>
            <a:pathLst>
              <a:path h="14193266" w="14193266">
                <a:moveTo>
                  <a:pt x="0" y="0"/>
                </a:moveTo>
                <a:lnTo>
                  <a:pt x="14193267" y="0"/>
                </a:lnTo>
                <a:lnTo>
                  <a:pt x="14193267" y="14193266"/>
                </a:lnTo>
                <a:lnTo>
                  <a:pt x="0" y="141932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6"/>
            <a:stretch>
              <a:fillRect l="0" t="0" r="0" b="0"/>
            </a:stretch>
          </a:blipFill>
        </p:spPr>
      </p:sp>
      <p:sp>
        <p:nvSpPr>
          <p:cNvPr name="Freeform 5" id="5"/>
          <p:cNvSpPr/>
          <p:nvPr/>
        </p:nvSpPr>
        <p:spPr>
          <a:xfrm flipH="false" flipV="false" rot="0">
            <a:off x="1304735" y="1589722"/>
            <a:ext cx="15678531" cy="8180958"/>
          </a:xfrm>
          <a:custGeom>
            <a:avLst/>
            <a:gdLst/>
            <a:ahLst/>
            <a:cxnLst/>
            <a:rect r="r" b="b" t="t" l="l"/>
            <a:pathLst>
              <a:path h="8180958" w="15678531">
                <a:moveTo>
                  <a:pt x="0" y="0"/>
                </a:moveTo>
                <a:lnTo>
                  <a:pt x="15678530" y="0"/>
                </a:lnTo>
                <a:lnTo>
                  <a:pt x="15678530" y="8180958"/>
                </a:lnTo>
                <a:lnTo>
                  <a:pt x="0" y="8180958"/>
                </a:lnTo>
                <a:lnTo>
                  <a:pt x="0" y="0"/>
                </a:lnTo>
                <a:close/>
              </a:path>
            </a:pathLst>
          </a:custGeom>
          <a:blipFill>
            <a:blip r:embed="rId7"/>
            <a:stretch>
              <a:fillRect l="-1282" t="-731" r="0" b="-731"/>
            </a:stretch>
          </a:blipFill>
        </p:spPr>
      </p:sp>
      <p:sp>
        <p:nvSpPr>
          <p:cNvPr name="TextBox 6" id="6"/>
          <p:cNvSpPr txBox="true"/>
          <p:nvPr/>
        </p:nvSpPr>
        <p:spPr>
          <a:xfrm rot="0">
            <a:off x="442752" y="313269"/>
            <a:ext cx="5369589" cy="969644"/>
          </a:xfrm>
          <a:prstGeom prst="rect">
            <a:avLst/>
          </a:prstGeom>
        </p:spPr>
        <p:txBody>
          <a:bodyPr anchor="t" rtlCol="false" tIns="0" lIns="0" bIns="0" rIns="0">
            <a:spAutoFit/>
          </a:bodyPr>
          <a:lstStyle/>
          <a:p>
            <a:pPr algn="l">
              <a:lnSpc>
                <a:spcPts val="7980"/>
              </a:lnSpc>
              <a:spcBef>
                <a:spcPct val="0"/>
              </a:spcBef>
            </a:pPr>
            <a:r>
              <a:rPr lang="en-US" b="true" sz="5700">
                <a:solidFill>
                  <a:srgbClr val="FFFFFF"/>
                </a:solidFill>
                <a:latin typeface="Montserrat Classic Bold"/>
                <a:ea typeface="Montserrat Classic Bold"/>
                <a:cs typeface="Montserrat Classic Bold"/>
                <a:sym typeface="Montserrat Classic Bold"/>
              </a:rPr>
              <a:t>MARKET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4619686" cy="2095378"/>
          </a:xfrm>
          <a:custGeom>
            <a:avLst/>
            <a:gdLst/>
            <a:ahLst/>
            <a:cxnLst/>
            <a:rect r="r" b="b" t="t" l="l"/>
            <a:pathLst>
              <a:path h="2095378" w="4619686">
                <a:moveTo>
                  <a:pt x="0" y="0"/>
                </a:moveTo>
                <a:lnTo>
                  <a:pt x="4619686" y="0"/>
                </a:lnTo>
                <a:lnTo>
                  <a:pt x="4619686" y="2095378"/>
                </a:lnTo>
                <a:lnTo>
                  <a:pt x="0" y="20953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53637">
            <a:off x="-6258457" y="10048218"/>
            <a:ext cx="13999439" cy="13999439"/>
          </a:xfrm>
          <a:custGeom>
            <a:avLst/>
            <a:gdLst/>
            <a:ahLst/>
            <a:cxnLst/>
            <a:rect r="r" b="b" t="t" l="l"/>
            <a:pathLst>
              <a:path h="13999439" w="13999439">
                <a:moveTo>
                  <a:pt x="0" y="0"/>
                </a:moveTo>
                <a:lnTo>
                  <a:pt x="13999439" y="0"/>
                </a:lnTo>
                <a:lnTo>
                  <a:pt x="13999439" y="13999439"/>
                </a:lnTo>
                <a:lnTo>
                  <a:pt x="0" y="139994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6"/>
            <a:stretch>
              <a:fillRect l="0" t="0" r="0" b="0"/>
            </a:stretch>
          </a:blipFill>
        </p:spPr>
      </p:sp>
      <p:sp>
        <p:nvSpPr>
          <p:cNvPr name="Freeform 5" id="5"/>
          <p:cNvSpPr/>
          <p:nvPr/>
        </p:nvSpPr>
        <p:spPr>
          <a:xfrm flipH="false" flipV="false" rot="0">
            <a:off x="9580925" y="2095378"/>
            <a:ext cx="8458765" cy="4757793"/>
          </a:xfrm>
          <a:custGeom>
            <a:avLst/>
            <a:gdLst/>
            <a:ahLst/>
            <a:cxnLst/>
            <a:rect r="r" b="b" t="t" l="l"/>
            <a:pathLst>
              <a:path h="4757793" w="8458765">
                <a:moveTo>
                  <a:pt x="0" y="0"/>
                </a:moveTo>
                <a:lnTo>
                  <a:pt x="8458765" y="0"/>
                </a:lnTo>
                <a:lnTo>
                  <a:pt x="8458765" y="4757793"/>
                </a:lnTo>
                <a:lnTo>
                  <a:pt x="0" y="4757793"/>
                </a:lnTo>
                <a:lnTo>
                  <a:pt x="0" y="0"/>
                </a:lnTo>
                <a:close/>
              </a:path>
            </a:pathLst>
          </a:custGeom>
          <a:blipFill>
            <a:blip r:embed="rId7"/>
            <a:stretch>
              <a:fillRect l="0" t="0" r="-16573" b="0"/>
            </a:stretch>
          </a:blipFill>
        </p:spPr>
      </p:sp>
      <p:sp>
        <p:nvSpPr>
          <p:cNvPr name="TextBox 6" id="6"/>
          <p:cNvSpPr txBox="true"/>
          <p:nvPr/>
        </p:nvSpPr>
        <p:spPr>
          <a:xfrm rot="0">
            <a:off x="272886" y="294219"/>
            <a:ext cx="4964900" cy="1045209"/>
          </a:xfrm>
          <a:prstGeom prst="rect">
            <a:avLst/>
          </a:prstGeom>
        </p:spPr>
        <p:txBody>
          <a:bodyPr anchor="t" rtlCol="false" tIns="0" lIns="0" bIns="0" rIns="0">
            <a:spAutoFit/>
          </a:bodyPr>
          <a:lstStyle/>
          <a:p>
            <a:pPr algn="l">
              <a:lnSpc>
                <a:spcPts val="8540"/>
              </a:lnSpc>
              <a:spcBef>
                <a:spcPct val="0"/>
              </a:spcBef>
            </a:pPr>
            <a:r>
              <a:rPr lang="en-US" b="true" sz="6100">
                <a:solidFill>
                  <a:srgbClr val="FFFFFF"/>
                </a:solidFill>
                <a:latin typeface="Montserrat Classic Bold"/>
                <a:ea typeface="Montserrat Classic Bold"/>
                <a:cs typeface="Montserrat Classic Bold"/>
                <a:sym typeface="Montserrat Classic Bold"/>
              </a:rPr>
              <a:t>PRODUCT</a:t>
            </a:r>
          </a:p>
        </p:txBody>
      </p:sp>
      <p:sp>
        <p:nvSpPr>
          <p:cNvPr name="TextBox 7" id="7"/>
          <p:cNvSpPr txBox="true"/>
          <p:nvPr/>
        </p:nvSpPr>
        <p:spPr>
          <a:xfrm rot="0">
            <a:off x="272886" y="1865337"/>
            <a:ext cx="9144000" cy="7940040"/>
          </a:xfrm>
          <a:prstGeom prst="rect">
            <a:avLst/>
          </a:prstGeom>
        </p:spPr>
        <p:txBody>
          <a:bodyPr anchor="t" rtlCol="false" tIns="0" lIns="0" bIns="0" rIns="0">
            <a:spAutoFit/>
          </a:bodyPr>
          <a:lstStyle/>
          <a:p>
            <a:pPr algn="ctr">
              <a:lnSpc>
                <a:spcPts val="3359"/>
              </a:lnSpc>
              <a:spcBef>
                <a:spcPct val="0"/>
              </a:spcBef>
            </a:pPr>
            <a:r>
              <a:rPr lang="en-US" sz="2399">
                <a:solidFill>
                  <a:srgbClr val="000000"/>
                </a:solidFill>
                <a:latin typeface="Montserrat Semi-Bold"/>
                <a:ea typeface="Montserrat Semi-Bold"/>
                <a:cs typeface="Montserrat Semi-Bold"/>
                <a:sym typeface="Montserrat Semi-Bold"/>
              </a:rPr>
              <a:t>⭐ UNIQUE FEATURES &amp; DIFFERENTIATION (WEBSITE – AWARENESS PLATFORM)</a:t>
            </a:r>
          </a:p>
          <a:p>
            <a:pPr algn="ctr">
              <a:lnSpc>
                <a:spcPts val="3359"/>
              </a:lnSpc>
              <a:spcBef>
                <a:spcPct val="0"/>
              </a:spcBef>
            </a:pPr>
          </a:p>
          <a:p>
            <a:pPr algn="ctr">
              <a:lnSpc>
                <a:spcPts val="3359"/>
              </a:lnSpc>
              <a:spcBef>
                <a:spcPct val="0"/>
              </a:spcBef>
            </a:pPr>
            <a:r>
              <a:rPr lang="en-US" sz="2399">
                <a:solidFill>
                  <a:srgbClr val="000000"/>
                </a:solidFill>
                <a:latin typeface="Montserrat Semi-Bold"/>
                <a:ea typeface="Montserrat Semi-Bold"/>
                <a:cs typeface="Montserrat Semi-Bold"/>
                <a:sym typeface="Montserrat Semi-Bold"/>
              </a:rPr>
              <a:t>ONLY PLATFORM DESIGNED EXCLUSIVELY FOR TEENAGERS’ DIGITAL FOOTPRINT EDUCATION</a:t>
            </a:r>
          </a:p>
          <a:p>
            <a:pPr algn="ctr">
              <a:lnSpc>
                <a:spcPts val="3359"/>
              </a:lnSpc>
              <a:spcBef>
                <a:spcPct val="0"/>
              </a:spcBef>
            </a:pPr>
          </a:p>
          <a:p>
            <a:pPr algn="ctr">
              <a:lnSpc>
                <a:spcPts val="3359"/>
              </a:lnSpc>
              <a:spcBef>
                <a:spcPct val="0"/>
              </a:spcBef>
            </a:pPr>
            <a:r>
              <a:rPr lang="en-US" sz="2399">
                <a:solidFill>
                  <a:srgbClr val="000000"/>
                </a:solidFill>
                <a:latin typeface="Montserrat Semi-Bold"/>
                <a:ea typeface="Montserrat Semi-Bold"/>
                <a:cs typeface="Montserrat Semi-Bold"/>
                <a:sym typeface="Montserrat Semi-Bold"/>
              </a:rPr>
              <a:t>USES SIMPLE EXPLANATIONS, REAL EXAMPLES, AND INTERACTIVE LEARNING (COMPETITORS MOSTLY GIVE LONG TECHNICAL ARTICLES)</a:t>
            </a:r>
          </a:p>
          <a:p>
            <a:pPr algn="ctr">
              <a:lnSpc>
                <a:spcPts val="3359"/>
              </a:lnSpc>
              <a:spcBef>
                <a:spcPct val="0"/>
              </a:spcBef>
            </a:pPr>
          </a:p>
          <a:p>
            <a:pPr algn="ctr">
              <a:lnSpc>
                <a:spcPts val="3359"/>
              </a:lnSpc>
              <a:spcBef>
                <a:spcPct val="0"/>
              </a:spcBef>
            </a:pPr>
            <a:r>
              <a:rPr lang="en-US" sz="2399">
                <a:solidFill>
                  <a:srgbClr val="000000"/>
                </a:solidFill>
                <a:latin typeface="Montserrat Semi-Bold"/>
                <a:ea typeface="Montserrat Semi-Bold"/>
                <a:cs typeface="Montserrat Semi-Bold"/>
                <a:sym typeface="Montserrat Semi-Bold"/>
              </a:rPr>
              <a:t>FOCUSES ON PREVENTIVE AWARENESS, NOT JUST WARNINGS AFTER SOMETHING GOES WRONG</a:t>
            </a:r>
          </a:p>
          <a:p>
            <a:pPr algn="ctr">
              <a:lnSpc>
                <a:spcPts val="3359"/>
              </a:lnSpc>
              <a:spcBef>
                <a:spcPct val="0"/>
              </a:spcBef>
            </a:pPr>
          </a:p>
          <a:p>
            <a:pPr algn="ctr">
              <a:lnSpc>
                <a:spcPts val="3359"/>
              </a:lnSpc>
              <a:spcBef>
                <a:spcPct val="0"/>
              </a:spcBef>
            </a:pPr>
            <a:r>
              <a:rPr lang="en-US" sz="2399">
                <a:solidFill>
                  <a:srgbClr val="000000"/>
                </a:solidFill>
                <a:latin typeface="Montserrat Semi-Bold"/>
                <a:ea typeface="Montserrat Semi-Bold"/>
                <a:cs typeface="Montserrat Semi-Bold"/>
                <a:sym typeface="Montserrat Semi-Bold"/>
              </a:rPr>
              <a:t>TEEN-FRIENDLY UI THAT MAKES LEARNING EASY AND ENGAGING, UNLIKE HEAVY CYBER-SAFETY PORTALS</a:t>
            </a:r>
          </a:p>
          <a:p>
            <a:pPr algn="ctr">
              <a:lnSpc>
                <a:spcPts val="3359"/>
              </a:lnSpc>
              <a:spcBef>
                <a:spcPct val="0"/>
              </a:spcBef>
            </a:pPr>
          </a:p>
          <a:p>
            <a:pPr algn="ctr">
              <a:lnSpc>
                <a:spcPts val="3359"/>
              </a:lnSpc>
              <a:spcBef>
                <a:spcPct val="0"/>
              </a:spcBef>
            </a:pPr>
            <a:r>
              <a:rPr lang="en-US" sz="2399">
                <a:solidFill>
                  <a:srgbClr val="000000"/>
                </a:solidFill>
                <a:latin typeface="Montserrat Semi-Bold"/>
                <a:ea typeface="Montserrat Semi-Bold"/>
                <a:cs typeface="Montserrat Semi-Bold"/>
                <a:sym typeface="Montserrat Semi-Bold"/>
              </a:rPr>
              <a:t>PART OF A COMPLETE ECOSYSTEM (WEBSITE + EXTENSION + DASHBOARD) — COMPETITORS DON’T CONNECT AWARENESS WITH REAL-TIME PROTECTION</a:t>
            </a:r>
          </a:p>
        </p:txBody>
      </p:sp>
      <p:sp>
        <p:nvSpPr>
          <p:cNvPr name="TextBox 8" id="8"/>
          <p:cNvSpPr txBox="true"/>
          <p:nvPr/>
        </p:nvSpPr>
        <p:spPr>
          <a:xfrm rot="0">
            <a:off x="4844886" y="232016"/>
            <a:ext cx="7638494" cy="1216026"/>
          </a:xfrm>
          <a:prstGeom prst="rect">
            <a:avLst/>
          </a:prstGeom>
        </p:spPr>
        <p:txBody>
          <a:bodyPr anchor="t" rtlCol="false" tIns="0" lIns="0" bIns="0" rIns="0">
            <a:spAutoFit/>
          </a:bodyPr>
          <a:lstStyle/>
          <a:p>
            <a:pPr algn="ctr">
              <a:lnSpc>
                <a:spcPts val="4899"/>
              </a:lnSpc>
              <a:spcBef>
                <a:spcPct val="0"/>
              </a:spcBef>
            </a:pPr>
            <a:r>
              <a:rPr lang="en-US" b="true" sz="3499">
                <a:solidFill>
                  <a:srgbClr val="000000"/>
                </a:solidFill>
                <a:latin typeface="Montserrat Classic Bold"/>
                <a:ea typeface="Montserrat Classic Bold"/>
                <a:cs typeface="Montserrat Classic Bold"/>
                <a:sym typeface="Montserrat Classic Bold"/>
              </a:rPr>
              <a:t>WEBSITE (AWARENESS PLATFORM)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206317" y="0"/>
            <a:ext cx="4156652" cy="1885357"/>
          </a:xfrm>
          <a:custGeom>
            <a:avLst/>
            <a:gdLst/>
            <a:ahLst/>
            <a:cxnLst/>
            <a:rect r="r" b="b" t="t" l="l"/>
            <a:pathLst>
              <a:path h="1885357" w="4156652">
                <a:moveTo>
                  <a:pt x="0" y="0"/>
                </a:moveTo>
                <a:lnTo>
                  <a:pt x="4156651" y="0"/>
                </a:lnTo>
                <a:lnTo>
                  <a:pt x="4156651" y="1885357"/>
                </a:lnTo>
                <a:lnTo>
                  <a:pt x="0" y="18853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53637">
            <a:off x="-6292545" y="9862238"/>
            <a:ext cx="14161891" cy="14161891"/>
          </a:xfrm>
          <a:custGeom>
            <a:avLst/>
            <a:gdLst/>
            <a:ahLst/>
            <a:cxnLst/>
            <a:rect r="r" b="b" t="t" l="l"/>
            <a:pathLst>
              <a:path h="14161891" w="14161891">
                <a:moveTo>
                  <a:pt x="0" y="0"/>
                </a:moveTo>
                <a:lnTo>
                  <a:pt x="14161891" y="0"/>
                </a:lnTo>
                <a:lnTo>
                  <a:pt x="14161891" y="14161891"/>
                </a:lnTo>
                <a:lnTo>
                  <a:pt x="0" y="141618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6"/>
            <a:stretch>
              <a:fillRect l="0" t="0" r="0" b="0"/>
            </a:stretch>
          </a:blipFill>
        </p:spPr>
      </p:sp>
      <p:sp>
        <p:nvSpPr>
          <p:cNvPr name="Freeform 5" id="5"/>
          <p:cNvSpPr/>
          <p:nvPr/>
        </p:nvSpPr>
        <p:spPr>
          <a:xfrm flipH="false" flipV="false" rot="0">
            <a:off x="13625432" y="1574394"/>
            <a:ext cx="4347082" cy="7945992"/>
          </a:xfrm>
          <a:custGeom>
            <a:avLst/>
            <a:gdLst/>
            <a:ahLst/>
            <a:cxnLst/>
            <a:rect r="r" b="b" t="t" l="l"/>
            <a:pathLst>
              <a:path h="7945992" w="4347082">
                <a:moveTo>
                  <a:pt x="0" y="0"/>
                </a:moveTo>
                <a:lnTo>
                  <a:pt x="4347082" y="0"/>
                </a:lnTo>
                <a:lnTo>
                  <a:pt x="4347082" y="7945993"/>
                </a:lnTo>
                <a:lnTo>
                  <a:pt x="0" y="7945993"/>
                </a:lnTo>
                <a:lnTo>
                  <a:pt x="0" y="0"/>
                </a:lnTo>
                <a:close/>
              </a:path>
            </a:pathLst>
          </a:custGeom>
          <a:blipFill>
            <a:blip r:embed="rId7"/>
            <a:stretch>
              <a:fillRect l="0" t="-3701" r="-5075" b="-3029"/>
            </a:stretch>
          </a:blipFill>
        </p:spPr>
      </p:sp>
      <p:sp>
        <p:nvSpPr>
          <p:cNvPr name="TextBox 6" id="6"/>
          <p:cNvSpPr txBox="true"/>
          <p:nvPr/>
        </p:nvSpPr>
        <p:spPr>
          <a:xfrm rot="0">
            <a:off x="403988" y="294219"/>
            <a:ext cx="4964900" cy="1038224"/>
          </a:xfrm>
          <a:prstGeom prst="rect">
            <a:avLst/>
          </a:prstGeom>
        </p:spPr>
        <p:txBody>
          <a:bodyPr anchor="t" rtlCol="false" tIns="0" lIns="0" bIns="0" rIns="0">
            <a:spAutoFit/>
          </a:bodyPr>
          <a:lstStyle/>
          <a:p>
            <a:pPr algn="l">
              <a:lnSpc>
                <a:spcPts val="8400"/>
              </a:lnSpc>
              <a:spcBef>
                <a:spcPct val="0"/>
              </a:spcBef>
            </a:pPr>
            <a:r>
              <a:rPr lang="en-US" b="true" sz="6000">
                <a:solidFill>
                  <a:srgbClr val="FFFFFF"/>
                </a:solidFill>
                <a:latin typeface="Montserrat Classic Bold"/>
                <a:ea typeface="Montserrat Classic Bold"/>
                <a:cs typeface="Montserrat Classic Bold"/>
                <a:sym typeface="Montserrat Classic Bold"/>
              </a:rPr>
              <a:t>PRODUCT</a:t>
            </a:r>
          </a:p>
        </p:txBody>
      </p:sp>
      <p:sp>
        <p:nvSpPr>
          <p:cNvPr name="TextBox 7" id="7"/>
          <p:cNvSpPr txBox="true"/>
          <p:nvPr/>
        </p:nvSpPr>
        <p:spPr>
          <a:xfrm rot="0">
            <a:off x="1028700" y="1850583"/>
            <a:ext cx="12040729" cy="7336428"/>
          </a:xfrm>
          <a:prstGeom prst="rect">
            <a:avLst/>
          </a:prstGeom>
        </p:spPr>
        <p:txBody>
          <a:bodyPr anchor="t" rtlCol="false" tIns="0" lIns="0" bIns="0" rIns="0">
            <a:spAutoFit/>
          </a:bodyPr>
          <a:lstStyle/>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 SAFEPOST BROWSER EXTENSION — UNIQUE FEATURES &amp; DIFFERENTIATION</a:t>
            </a:r>
          </a:p>
          <a:p>
            <a:pPr algn="ctr">
              <a:lnSpc>
                <a:spcPts val="2672"/>
              </a:lnSpc>
              <a:spcBef>
                <a:spcPct val="0"/>
              </a:spcBef>
            </a:pP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DETECTS RISKY OR SENSITIVE CONTENT BEFORE YOU POST</a:t>
            </a: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INSTANTLY WARNS USERS ABOUT PERSONAL INFO, HARMFUL TEXT, OR UNSAFE ACTIONS</a:t>
            </a:r>
          </a:p>
          <a:p>
            <a:pPr algn="ctr">
              <a:lnSpc>
                <a:spcPts val="2672"/>
              </a:lnSpc>
              <a:spcBef>
                <a:spcPct val="0"/>
              </a:spcBef>
            </a:pP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PROCESSES EVERYTHING LOCALLY, ENSURING ZERO DATA COLLECTION</a:t>
            </a:r>
          </a:p>
          <a:p>
            <a:pPr algn="ctr">
              <a:lnSpc>
                <a:spcPts val="2672"/>
              </a:lnSpc>
              <a:spcBef>
                <a:spcPct val="0"/>
              </a:spcBef>
            </a:pP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TEEN-FRIENDLY UI WITH SIMPLE ALERTS AND GUIDANCE</a:t>
            </a: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HELPS BUILD SAFE POSTING HABITS THROUGH REAL-TIME FEEDBACK</a:t>
            </a:r>
          </a:p>
          <a:p>
            <a:pPr algn="ctr">
              <a:lnSpc>
                <a:spcPts val="2672"/>
              </a:lnSpc>
              <a:spcBef>
                <a:spcPct val="0"/>
              </a:spcBef>
            </a:pP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DIFFERENTIATION FROM COMPETITORS:</a:t>
            </a: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MOST TOOLS ONLY SCAN AFTER A POST IS MADE — SAFEPOST WORKS BEFORE THE POST, PREVENTING DAMAGE</a:t>
            </a:r>
          </a:p>
          <a:p>
            <a:pPr algn="ctr">
              <a:lnSpc>
                <a:spcPts val="2672"/>
              </a:lnSpc>
              <a:spcBef>
                <a:spcPct val="0"/>
              </a:spcBef>
            </a:pP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COMPETITORS TRACK USER DATA; SAFEPOST IS 100% PRIVACY-FIRST</a:t>
            </a: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BUILT SPECIFICALLY FOR TEEN DIGITAL SAFETY, NOT GENERIC CYBERSECURITY</a:t>
            </a:r>
          </a:p>
          <a:p>
            <a:pPr algn="ctr">
              <a:lnSpc>
                <a:spcPts val="2672"/>
              </a:lnSpc>
              <a:spcBef>
                <a:spcPct val="0"/>
              </a:spcBef>
            </a:pPr>
          </a:p>
          <a:p>
            <a:pPr algn="ctr">
              <a:lnSpc>
                <a:spcPts val="2672"/>
              </a:lnSpc>
              <a:spcBef>
                <a:spcPct val="0"/>
              </a:spcBef>
            </a:pPr>
            <a:r>
              <a:rPr lang="en-US" sz="2303">
                <a:solidFill>
                  <a:srgbClr val="000000"/>
                </a:solidFill>
                <a:latin typeface="Montserrat Semi-Bold"/>
                <a:ea typeface="Montserrat Semi-Bold"/>
                <a:cs typeface="Montserrat Semi-Bold"/>
                <a:sym typeface="Montserrat Semi-Bold"/>
              </a:rPr>
              <a:t>WORKS SEAMLESSLY WITH THE DIGITALGUARD ECOSYSTEM (WEBSITE + DASHBOARD)</a:t>
            </a:r>
          </a:p>
        </p:txBody>
      </p:sp>
      <p:sp>
        <p:nvSpPr>
          <p:cNvPr name="TextBox 8" id="8"/>
          <p:cNvSpPr txBox="true"/>
          <p:nvPr/>
        </p:nvSpPr>
        <p:spPr>
          <a:xfrm rot="0">
            <a:off x="5095939" y="614426"/>
            <a:ext cx="6931968" cy="365125"/>
          </a:xfrm>
          <a:prstGeom prst="rect">
            <a:avLst/>
          </a:prstGeom>
        </p:spPr>
        <p:txBody>
          <a:bodyPr anchor="t" rtlCol="false" tIns="0" lIns="0" bIns="0" rIns="0">
            <a:spAutoFit/>
          </a:bodyPr>
          <a:lstStyle/>
          <a:p>
            <a:pPr algn="ctr">
              <a:lnSpc>
                <a:spcPts val="2899"/>
              </a:lnSpc>
              <a:spcBef>
                <a:spcPct val="0"/>
              </a:spcBef>
            </a:pPr>
            <a:r>
              <a:rPr lang="en-US" b="true" sz="2499">
                <a:solidFill>
                  <a:srgbClr val="000000"/>
                </a:solidFill>
                <a:latin typeface="Montserrat Classic Bold"/>
                <a:ea typeface="Montserrat Classic Bold"/>
                <a:cs typeface="Montserrat Classic Bold"/>
                <a:sym typeface="Montserrat Classic Bold"/>
              </a:rPr>
              <a:t>BROWSER EXTENSION: SAFEPOST (PART 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266887" y="86022"/>
            <a:ext cx="4156652" cy="1885357"/>
          </a:xfrm>
          <a:custGeom>
            <a:avLst/>
            <a:gdLst/>
            <a:ahLst/>
            <a:cxnLst/>
            <a:rect r="r" b="b" t="t" l="l"/>
            <a:pathLst>
              <a:path h="1885357" w="4156652">
                <a:moveTo>
                  <a:pt x="0" y="0"/>
                </a:moveTo>
                <a:lnTo>
                  <a:pt x="4156652" y="0"/>
                </a:lnTo>
                <a:lnTo>
                  <a:pt x="4156652" y="1885356"/>
                </a:lnTo>
                <a:lnTo>
                  <a:pt x="0" y="1885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53637">
            <a:off x="-6235409" y="10173964"/>
            <a:ext cx="13889600" cy="13889600"/>
          </a:xfrm>
          <a:custGeom>
            <a:avLst/>
            <a:gdLst/>
            <a:ahLst/>
            <a:cxnLst/>
            <a:rect r="r" b="b" t="t" l="l"/>
            <a:pathLst>
              <a:path h="13889600" w="13889600">
                <a:moveTo>
                  <a:pt x="0" y="0"/>
                </a:moveTo>
                <a:lnTo>
                  <a:pt x="13889600" y="0"/>
                </a:lnTo>
                <a:lnTo>
                  <a:pt x="13889600" y="13889601"/>
                </a:lnTo>
                <a:lnTo>
                  <a:pt x="0" y="138896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6"/>
            <a:stretch>
              <a:fillRect l="0" t="0" r="0" b="0"/>
            </a:stretch>
          </a:blipFill>
        </p:spPr>
      </p:sp>
      <p:sp>
        <p:nvSpPr>
          <p:cNvPr name="Freeform 5" id="5"/>
          <p:cNvSpPr/>
          <p:nvPr/>
        </p:nvSpPr>
        <p:spPr>
          <a:xfrm flipH="false" flipV="false" rot="0">
            <a:off x="9315354" y="2650306"/>
            <a:ext cx="8657160" cy="4248828"/>
          </a:xfrm>
          <a:custGeom>
            <a:avLst/>
            <a:gdLst/>
            <a:ahLst/>
            <a:cxnLst/>
            <a:rect r="r" b="b" t="t" l="l"/>
            <a:pathLst>
              <a:path h="4248828" w="8657160">
                <a:moveTo>
                  <a:pt x="0" y="0"/>
                </a:moveTo>
                <a:lnTo>
                  <a:pt x="8657160" y="0"/>
                </a:lnTo>
                <a:lnTo>
                  <a:pt x="8657160" y="4248828"/>
                </a:lnTo>
                <a:lnTo>
                  <a:pt x="0" y="4248828"/>
                </a:lnTo>
                <a:lnTo>
                  <a:pt x="0" y="0"/>
                </a:lnTo>
                <a:close/>
              </a:path>
            </a:pathLst>
          </a:custGeom>
          <a:blipFill>
            <a:blip r:embed="rId7"/>
            <a:stretch>
              <a:fillRect l="-477" t="-3620" r="-477" b="0"/>
            </a:stretch>
          </a:blipFill>
        </p:spPr>
      </p:sp>
      <p:sp>
        <p:nvSpPr>
          <p:cNvPr name="TextBox 6" id="6"/>
          <p:cNvSpPr txBox="true"/>
          <p:nvPr/>
        </p:nvSpPr>
        <p:spPr>
          <a:xfrm rot="0">
            <a:off x="376568" y="294219"/>
            <a:ext cx="4964900" cy="1038224"/>
          </a:xfrm>
          <a:prstGeom prst="rect">
            <a:avLst/>
          </a:prstGeom>
        </p:spPr>
        <p:txBody>
          <a:bodyPr anchor="t" rtlCol="false" tIns="0" lIns="0" bIns="0" rIns="0">
            <a:spAutoFit/>
          </a:bodyPr>
          <a:lstStyle/>
          <a:p>
            <a:pPr algn="l">
              <a:lnSpc>
                <a:spcPts val="8400"/>
              </a:lnSpc>
              <a:spcBef>
                <a:spcPct val="0"/>
              </a:spcBef>
            </a:pPr>
            <a:r>
              <a:rPr lang="en-US" b="true" sz="6000">
                <a:solidFill>
                  <a:srgbClr val="FFFFFF"/>
                </a:solidFill>
                <a:latin typeface="Montserrat Classic Bold"/>
                <a:ea typeface="Montserrat Classic Bold"/>
                <a:cs typeface="Montserrat Classic Bold"/>
                <a:sym typeface="Montserrat Classic Bold"/>
              </a:rPr>
              <a:t>PRODUCT</a:t>
            </a:r>
          </a:p>
        </p:txBody>
      </p:sp>
      <p:sp>
        <p:nvSpPr>
          <p:cNvPr name="TextBox 7" id="7"/>
          <p:cNvSpPr txBox="true"/>
          <p:nvPr/>
        </p:nvSpPr>
        <p:spPr>
          <a:xfrm rot="0">
            <a:off x="1028700" y="1587669"/>
            <a:ext cx="7947773" cy="8230743"/>
          </a:xfrm>
          <a:prstGeom prst="rect">
            <a:avLst/>
          </a:prstGeom>
        </p:spPr>
        <p:txBody>
          <a:bodyPr anchor="t" rtlCol="false" tIns="0" lIns="0" bIns="0" rIns="0">
            <a:spAutoFit/>
          </a:bodyPr>
          <a:lstStyle/>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 INSTITUTIONAL DASHBOARD — UNIQUE FEATURES &amp; DIFFERENTIATION</a:t>
            </a:r>
          </a:p>
          <a:p>
            <a:pPr algn="ctr">
              <a:lnSpc>
                <a:spcPts val="2436"/>
              </a:lnSpc>
              <a:spcBef>
                <a:spcPct val="0"/>
              </a:spcBef>
            </a:pP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GIVES SCHOOLS AND CORPORATES CLEAN ANALYTICS ON DIGITAL HYGIENE TRENDS</a:t>
            </a: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SHOWS BEHAVIOUR INSIGHTS, ALERT PATTERNS, AND IMPROVEMENT PROGRESS OVER TIME</a:t>
            </a: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COMPLETELY PRIVACY-SAFE — NO PERSONAL MESSAGES, NO PRIVATE DATA, ONLY ANONYMIZED METRICS</a:t>
            </a:r>
          </a:p>
          <a:p>
            <a:pPr algn="ctr">
              <a:lnSpc>
                <a:spcPts val="2436"/>
              </a:lnSpc>
              <a:spcBef>
                <a:spcPct val="0"/>
              </a:spcBef>
            </a:pP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HELPS INSTITUTIONS UNDERSTAND WHERE TEENS/EMPLOYEES NEED GUIDANCE</a:t>
            </a: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ENABLES INFORMED DECISION-MAKING FOR WORKSHOPS, TRAINING, AND AWARENESS DRIVES</a:t>
            </a: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DIFFERENTIATION FROM COMPETITORS:</a:t>
            </a: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COMPETITORS ONLY OFFER BLOCKING OR GENERIC MONITORING; OUR DASHBOARD GIVES ACTIONABLE INSIGHTS</a:t>
            </a: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DESIGNED FOR EDUCATION + AWARENESS, NOT SURVEILLANCE</a:t>
            </a:r>
          </a:p>
          <a:p>
            <a:pPr algn="ctr">
              <a:lnSpc>
                <a:spcPts val="2436"/>
              </a:lnSpc>
              <a:spcBef>
                <a:spcPct val="0"/>
              </a:spcBef>
            </a:pP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WORKS SEAMLESSLY WITH THE SAFEPOST EXTENSION TO PROVIDE A FULL ECOSYSTEM VIEW</a:t>
            </a:r>
          </a:p>
          <a:p>
            <a:pPr algn="ctr">
              <a:lnSpc>
                <a:spcPts val="2436"/>
              </a:lnSpc>
              <a:spcBef>
                <a:spcPct val="0"/>
              </a:spcBef>
            </a:pPr>
            <a:r>
              <a:rPr lang="en-US" sz="2100">
                <a:solidFill>
                  <a:srgbClr val="000000"/>
                </a:solidFill>
                <a:latin typeface="Montserrat Semi-Bold"/>
                <a:ea typeface="Montserrat Semi-Bold"/>
                <a:cs typeface="Montserrat Semi-Bold"/>
                <a:sym typeface="Montserrat Semi-Bold"/>
              </a:rPr>
              <a:t>FIRST DASHBOARD BUILT SPECIFICALLY FOR THE DIGITAL-FOOTPRINT CRISIS, NOT JUST GENERAL CYBER TOOLS</a:t>
            </a:r>
          </a:p>
        </p:txBody>
      </p:sp>
      <p:sp>
        <p:nvSpPr>
          <p:cNvPr name="TextBox 8" id="8"/>
          <p:cNvSpPr txBox="true"/>
          <p:nvPr/>
        </p:nvSpPr>
        <p:spPr>
          <a:xfrm rot="0">
            <a:off x="4676100" y="506095"/>
            <a:ext cx="8696771" cy="522605"/>
          </a:xfrm>
          <a:prstGeom prst="rect">
            <a:avLst/>
          </a:prstGeom>
        </p:spPr>
        <p:txBody>
          <a:bodyPr anchor="t" rtlCol="false" tIns="0" lIns="0" bIns="0" rIns="0">
            <a:spAutoFit/>
          </a:bodyPr>
          <a:lstStyle/>
          <a:p>
            <a:pPr algn="ctr">
              <a:lnSpc>
                <a:spcPts val="4060"/>
              </a:lnSpc>
              <a:spcBef>
                <a:spcPct val="0"/>
              </a:spcBef>
            </a:pPr>
            <a:r>
              <a:rPr lang="en-US" b="true" sz="3500">
                <a:solidFill>
                  <a:srgbClr val="000000"/>
                </a:solidFill>
                <a:latin typeface="Montserrat Classic Bold"/>
                <a:ea typeface="Montserrat Classic Bold"/>
                <a:cs typeface="Montserrat Classic Bold"/>
                <a:sym typeface="Montserrat Classic Bold"/>
              </a:rPr>
              <a:t> INSTITUTIONAL DASHBOARD (PART 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63195" y="208810"/>
            <a:ext cx="4344950" cy="1970764"/>
          </a:xfrm>
          <a:custGeom>
            <a:avLst/>
            <a:gdLst/>
            <a:ahLst/>
            <a:cxnLst/>
            <a:rect r="r" b="b" t="t" l="l"/>
            <a:pathLst>
              <a:path h="1970764" w="4344950">
                <a:moveTo>
                  <a:pt x="0" y="0"/>
                </a:moveTo>
                <a:lnTo>
                  <a:pt x="4344949" y="0"/>
                </a:lnTo>
                <a:lnTo>
                  <a:pt x="4344949" y="1970764"/>
                </a:lnTo>
                <a:lnTo>
                  <a:pt x="0" y="19707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9548" y="313649"/>
            <a:ext cx="5196517" cy="1187351"/>
          </a:xfrm>
          <a:prstGeom prst="rect">
            <a:avLst/>
          </a:prstGeom>
        </p:spPr>
        <p:txBody>
          <a:bodyPr anchor="t" rtlCol="false" tIns="0" lIns="0" bIns="0" rIns="0">
            <a:spAutoFit/>
          </a:bodyPr>
          <a:lstStyle/>
          <a:p>
            <a:pPr algn="l">
              <a:lnSpc>
                <a:spcPts val="4699"/>
              </a:lnSpc>
            </a:pPr>
            <a:r>
              <a:rPr lang="en-US" b="true" sz="4051">
                <a:solidFill>
                  <a:srgbClr val="FFFFFF"/>
                </a:solidFill>
                <a:latin typeface="Montserrat Classic Bold"/>
                <a:ea typeface="Montserrat Classic Bold"/>
                <a:cs typeface="Montserrat Classic Bold"/>
                <a:sym typeface="Montserrat Classic Bold"/>
              </a:rPr>
              <a:t>REVENUE </a:t>
            </a:r>
          </a:p>
          <a:p>
            <a:pPr algn="l">
              <a:lnSpc>
                <a:spcPts val="4699"/>
              </a:lnSpc>
            </a:pPr>
            <a:r>
              <a:rPr lang="en-US" b="true" sz="4051">
                <a:solidFill>
                  <a:srgbClr val="FFFFFF"/>
                </a:solidFill>
                <a:latin typeface="Montserrat Classic Bold"/>
                <a:ea typeface="Montserrat Classic Bold"/>
                <a:cs typeface="Montserrat Classic Bold"/>
                <a:sym typeface="Montserrat Classic Bold"/>
              </a:rPr>
              <a:t>MODEL</a:t>
            </a:r>
          </a:p>
        </p:txBody>
      </p:sp>
      <p:sp>
        <p:nvSpPr>
          <p:cNvPr name="Freeform 4" id="4"/>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4"/>
            <a:stretch>
              <a:fillRect l="0" t="0" r="0" b="0"/>
            </a:stretch>
          </a:blipFill>
        </p:spPr>
      </p:sp>
      <p:sp>
        <p:nvSpPr>
          <p:cNvPr name="TextBox 5" id="5"/>
          <p:cNvSpPr txBox="true"/>
          <p:nvPr/>
        </p:nvSpPr>
        <p:spPr>
          <a:xfrm rot="0">
            <a:off x="3378896" y="1883886"/>
            <a:ext cx="13470000" cy="7651476"/>
          </a:xfrm>
          <a:prstGeom prst="rect">
            <a:avLst/>
          </a:prstGeom>
        </p:spPr>
        <p:txBody>
          <a:bodyPr anchor="t" rtlCol="false" tIns="0" lIns="0" bIns="0" rIns="0">
            <a:spAutoFit/>
          </a:bodyPr>
          <a:lstStyle/>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REVENUE MODEL (DIGITALGUARD)</a:t>
            </a: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HOW WE GENERATE REVENUE</a:t>
            </a:r>
          </a:p>
          <a:p>
            <a:pPr algn="l">
              <a:lnSpc>
                <a:spcPts val="2624"/>
              </a:lnSpc>
              <a:spcBef>
                <a:spcPct val="0"/>
              </a:spcBef>
            </a:pP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1. SUBSCRIPTION &amp; SAAS REVENUE</a:t>
            </a: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ENTERPRISE DASHBOARD LICENSES FOR SCHOOLS &amp; COLLEGES (ANALYTICS + TRAINING).</a:t>
            </a: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CORPORATE B2B SUBSCRIPTION FOR EMPLOYEE DIGITAL-SAFETY MONITORING.</a:t>
            </a:r>
          </a:p>
          <a:p>
            <a:pPr algn="l">
              <a:lnSpc>
                <a:spcPts val="2624"/>
              </a:lnSpc>
              <a:spcBef>
                <a:spcPct val="0"/>
              </a:spcBef>
            </a:pP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DIGITALGUARD PREMIUM FOR STUDENTS &amp; PARENTS (AI RISK DETECTION + SAFEPOST PRO FEATURES).</a:t>
            </a:r>
          </a:p>
          <a:p>
            <a:pPr algn="l">
              <a:lnSpc>
                <a:spcPts val="2624"/>
              </a:lnSpc>
              <a:spcBef>
                <a:spcPct val="0"/>
              </a:spcBef>
            </a:pP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2. ADVERTISING &amp; SPONSORED CONTENT</a:t>
            </a: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WEBSITE + EXTENSION ADS (ADSENSE / SPONSORED SAFETY POSTS).</a:t>
            </a:r>
          </a:p>
          <a:p>
            <a:pPr algn="l">
              <a:lnSpc>
                <a:spcPts val="2624"/>
              </a:lnSpc>
              <a:spcBef>
                <a:spcPct val="0"/>
              </a:spcBef>
            </a:pP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3. GAMIFICATION &amp; MICRO-TRANSACTIONS</a:t>
            </a: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DIGITAL BADGE SHOP (ACHIEVEMENT BADGES, PROFILE BOOSTERS, PREMIUM ADD-ONS).</a:t>
            </a:r>
          </a:p>
          <a:p>
            <a:pPr algn="l">
              <a:lnSpc>
                <a:spcPts val="2624"/>
              </a:lnSpc>
              <a:spcBef>
                <a:spcPct val="0"/>
              </a:spcBef>
            </a:pP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4. CERTIFICATION &amp; LEARNING PROGRAMS</a:t>
            </a: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PAID DIGITAL FOOTPRINT CERTIFICATION COURSES (₹200–₹500).</a:t>
            </a:r>
          </a:p>
          <a:p>
            <a:pPr algn="l">
              <a:lnSpc>
                <a:spcPts val="2624"/>
              </a:lnSpc>
              <a:spcBef>
                <a:spcPct val="0"/>
              </a:spcBef>
            </a:pP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5. CSR PARTNERSHIPS &amp; SPONSORSHIP FUNDING</a:t>
            </a:r>
          </a:p>
          <a:p>
            <a:pPr algn="l">
              <a:lnSpc>
                <a:spcPts val="2624"/>
              </a:lnSpc>
              <a:spcBef>
                <a:spcPct val="0"/>
              </a:spcBef>
            </a:pPr>
            <a:r>
              <a:rPr lang="en-US" sz="2262">
                <a:solidFill>
                  <a:srgbClr val="000000"/>
                </a:solidFill>
                <a:latin typeface="Montserrat Semi-Bold"/>
                <a:ea typeface="Montserrat Semi-Bold"/>
                <a:cs typeface="Montserrat Semi-Bold"/>
                <a:sym typeface="Montserrat Semi-Bold"/>
              </a:rPr>
              <a:t>COLLABORATIONS WITH CSR INITIATIVES SUPPORTING TEEN SAFETY &amp; DIGITAL WELLNESS.</a:t>
            </a:r>
          </a:p>
        </p:txBody>
      </p:sp>
      <p:sp>
        <p:nvSpPr>
          <p:cNvPr name="Freeform 6" id="6"/>
          <p:cNvSpPr/>
          <p:nvPr/>
        </p:nvSpPr>
        <p:spPr>
          <a:xfrm flipH="false" flipV="false" rot="4153637">
            <a:off x="-7259300" y="8742572"/>
            <a:ext cx="12724687" cy="12724687"/>
          </a:xfrm>
          <a:custGeom>
            <a:avLst/>
            <a:gdLst/>
            <a:ahLst/>
            <a:cxnLst/>
            <a:rect r="r" b="b" t="t" l="l"/>
            <a:pathLst>
              <a:path h="12724687" w="12724687">
                <a:moveTo>
                  <a:pt x="0" y="0"/>
                </a:moveTo>
                <a:lnTo>
                  <a:pt x="12724686" y="0"/>
                </a:lnTo>
                <a:lnTo>
                  <a:pt x="12724686" y="12724686"/>
                </a:lnTo>
                <a:lnTo>
                  <a:pt x="0" y="127246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86508" y="271091"/>
            <a:ext cx="4920855" cy="2231981"/>
          </a:xfrm>
          <a:custGeom>
            <a:avLst/>
            <a:gdLst/>
            <a:ahLst/>
            <a:cxnLst/>
            <a:rect r="r" b="b" t="t" l="l"/>
            <a:pathLst>
              <a:path h="2231981" w="4920855">
                <a:moveTo>
                  <a:pt x="0" y="0"/>
                </a:moveTo>
                <a:lnTo>
                  <a:pt x="4920855" y="0"/>
                </a:lnTo>
                <a:lnTo>
                  <a:pt x="4920855" y="2231981"/>
                </a:lnTo>
                <a:lnTo>
                  <a:pt x="0" y="22319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75159" y="392240"/>
            <a:ext cx="5369589" cy="1434592"/>
          </a:xfrm>
          <a:prstGeom prst="rect">
            <a:avLst/>
          </a:prstGeom>
        </p:spPr>
        <p:txBody>
          <a:bodyPr anchor="t" rtlCol="false" tIns="0" lIns="0" bIns="0" rIns="0">
            <a:spAutoFit/>
          </a:bodyPr>
          <a:lstStyle/>
          <a:p>
            <a:pPr algn="l">
              <a:lnSpc>
                <a:spcPts val="5684"/>
              </a:lnSpc>
            </a:pPr>
            <a:r>
              <a:rPr lang="en-US" b="true" sz="4900">
                <a:solidFill>
                  <a:srgbClr val="FFFFFF"/>
                </a:solidFill>
                <a:latin typeface="Montserrat Classic Bold"/>
                <a:ea typeface="Montserrat Classic Bold"/>
                <a:cs typeface="Montserrat Classic Bold"/>
                <a:sym typeface="Montserrat Classic Bold"/>
              </a:rPr>
              <a:t>REVENUE </a:t>
            </a:r>
          </a:p>
          <a:p>
            <a:pPr algn="l">
              <a:lnSpc>
                <a:spcPts val="5684"/>
              </a:lnSpc>
            </a:pPr>
            <a:r>
              <a:rPr lang="en-US" b="true" sz="4900">
                <a:solidFill>
                  <a:srgbClr val="FFFFFF"/>
                </a:solidFill>
                <a:latin typeface="Montserrat Classic Bold"/>
                <a:ea typeface="Montserrat Classic Bold"/>
                <a:cs typeface="Montserrat Classic Bold"/>
                <a:sym typeface="Montserrat Classic Bold"/>
              </a:rPr>
              <a:t>MODEL</a:t>
            </a:r>
          </a:p>
        </p:txBody>
      </p:sp>
      <p:sp>
        <p:nvSpPr>
          <p:cNvPr name="Freeform 4" id="4"/>
          <p:cNvSpPr/>
          <p:nvPr/>
        </p:nvSpPr>
        <p:spPr>
          <a:xfrm flipH="false" flipV="false" rot="4153637">
            <a:off x="-6774914" y="8843207"/>
            <a:ext cx="14696888" cy="14696888"/>
          </a:xfrm>
          <a:custGeom>
            <a:avLst/>
            <a:gdLst/>
            <a:ahLst/>
            <a:cxnLst/>
            <a:rect r="r" b="b" t="t" l="l"/>
            <a:pathLst>
              <a:path h="14696888" w="14696888">
                <a:moveTo>
                  <a:pt x="0" y="0"/>
                </a:moveTo>
                <a:lnTo>
                  <a:pt x="14696888" y="0"/>
                </a:lnTo>
                <a:lnTo>
                  <a:pt x="14696888" y="14696888"/>
                </a:lnTo>
                <a:lnTo>
                  <a:pt x="0" y="146968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6"/>
            <a:stretch>
              <a:fillRect l="0" t="0" r="0" b="0"/>
            </a:stretch>
          </a:blipFill>
        </p:spPr>
      </p:sp>
      <p:sp>
        <p:nvSpPr>
          <p:cNvPr name="TextBox 6" id="6"/>
          <p:cNvSpPr txBox="true"/>
          <p:nvPr/>
        </p:nvSpPr>
        <p:spPr>
          <a:xfrm rot="0">
            <a:off x="3459953" y="2149585"/>
            <a:ext cx="11386487" cy="6568440"/>
          </a:xfrm>
          <a:prstGeom prst="rect">
            <a:avLst/>
          </a:prstGeom>
        </p:spPr>
        <p:txBody>
          <a:bodyPr anchor="t" rtlCol="false" tIns="0" lIns="0" bIns="0" rIns="0">
            <a:spAutoFit/>
          </a:bodyPr>
          <a:lstStyle/>
          <a:p>
            <a:pPr algn="ctr">
              <a:lnSpc>
                <a:spcPts val="3479"/>
              </a:lnSpc>
              <a:spcBef>
                <a:spcPct val="0"/>
              </a:spcBef>
            </a:pPr>
            <a:r>
              <a:rPr lang="en-US" sz="3000">
                <a:solidFill>
                  <a:srgbClr val="000000"/>
                </a:solidFill>
                <a:latin typeface="Montserrat Semi-Bold"/>
                <a:ea typeface="Montserrat Semi-Bold"/>
                <a:cs typeface="Montserrat Semi-Bold"/>
                <a:sym typeface="Montserrat Semi-Bold"/>
              </a:rPr>
              <a:t>🟩 PRICING STRATEGY</a:t>
            </a:r>
          </a:p>
          <a:p>
            <a:pPr algn="ctr">
              <a:lnSpc>
                <a:spcPts val="3479"/>
              </a:lnSpc>
              <a:spcBef>
                <a:spcPct val="0"/>
              </a:spcBef>
            </a:pPr>
            <a:r>
              <a:rPr lang="en-US" sz="3000">
                <a:solidFill>
                  <a:srgbClr val="000000"/>
                </a:solidFill>
                <a:latin typeface="Montserrat Semi-Bold"/>
                <a:ea typeface="Montserrat Semi-Bold"/>
                <a:cs typeface="Montserrat Semi-Bold"/>
                <a:sym typeface="Montserrat Semi-Bold"/>
              </a:rPr>
              <a:t>FREEMIUM MODEL → FREE AWARENESS + PAID PROTECTION &amp; ANALYTICS.</a:t>
            </a:r>
          </a:p>
          <a:p>
            <a:pPr algn="ctr">
              <a:lnSpc>
                <a:spcPts val="3479"/>
              </a:lnSpc>
              <a:spcBef>
                <a:spcPct val="0"/>
              </a:spcBef>
            </a:pPr>
            <a:r>
              <a:rPr lang="en-US" sz="3000">
                <a:solidFill>
                  <a:srgbClr val="000000"/>
                </a:solidFill>
                <a:latin typeface="Montserrat Semi-Bold"/>
                <a:ea typeface="Montserrat Semi-Bold"/>
                <a:cs typeface="Montserrat Semi-Bold"/>
                <a:sym typeface="Montserrat Semi-Bold"/>
              </a:rPr>
              <a:t>LOW-COST STUDENT PLANS, HIGH-MARGIN INSTITUTIONAL LICENSES</a:t>
            </a:r>
          </a:p>
          <a:p>
            <a:pPr algn="ctr">
              <a:lnSpc>
                <a:spcPts val="3479"/>
              </a:lnSpc>
              <a:spcBef>
                <a:spcPct val="0"/>
              </a:spcBef>
            </a:pPr>
            <a:r>
              <a:rPr lang="en-US" sz="3000">
                <a:solidFill>
                  <a:srgbClr val="000000"/>
                </a:solidFill>
                <a:latin typeface="Montserrat Semi-Bold"/>
                <a:ea typeface="Montserrat Semi-Bold"/>
                <a:cs typeface="Montserrat Semi-Bold"/>
                <a:sym typeface="Montserrat Semi-Bold"/>
              </a:rPr>
              <a:t>.</a:t>
            </a:r>
          </a:p>
          <a:p>
            <a:pPr algn="ctr">
              <a:lnSpc>
                <a:spcPts val="3479"/>
              </a:lnSpc>
              <a:spcBef>
                <a:spcPct val="0"/>
              </a:spcBef>
            </a:pPr>
            <a:r>
              <a:rPr lang="en-US" sz="3000">
                <a:solidFill>
                  <a:srgbClr val="000000"/>
                </a:solidFill>
                <a:latin typeface="Montserrat Semi-Bold"/>
                <a:ea typeface="Montserrat Semi-Bold"/>
                <a:cs typeface="Montserrat Semi-Bold"/>
                <a:sym typeface="Montserrat Semi-Bold"/>
              </a:rPr>
              <a:t>🟧 CUSTOMER ACQUISITION</a:t>
            </a:r>
          </a:p>
          <a:p>
            <a:pPr algn="ctr">
              <a:lnSpc>
                <a:spcPts val="3479"/>
              </a:lnSpc>
              <a:spcBef>
                <a:spcPct val="0"/>
              </a:spcBef>
            </a:pPr>
            <a:r>
              <a:rPr lang="en-US" sz="3000">
                <a:solidFill>
                  <a:srgbClr val="000000"/>
                </a:solidFill>
                <a:latin typeface="Montserrat Semi-Bold"/>
                <a:ea typeface="Montserrat Semi-Bold"/>
                <a:cs typeface="Montserrat Semi-Bold"/>
                <a:sym typeface="Montserrat Semi-Bold"/>
              </a:rPr>
              <a:t>SCHOOL TIE-UPS, STUDENT COMMUNITIES, CORPORATES, ONLINE CAMPAIGNS.</a:t>
            </a:r>
          </a:p>
          <a:p>
            <a:pPr algn="ctr">
              <a:lnSpc>
                <a:spcPts val="3479"/>
              </a:lnSpc>
              <a:spcBef>
                <a:spcPct val="0"/>
              </a:spcBef>
            </a:pPr>
          </a:p>
          <a:p>
            <a:pPr algn="ctr">
              <a:lnSpc>
                <a:spcPts val="3479"/>
              </a:lnSpc>
              <a:spcBef>
                <a:spcPct val="0"/>
              </a:spcBef>
            </a:pPr>
            <a:r>
              <a:rPr lang="en-US" sz="3000">
                <a:solidFill>
                  <a:srgbClr val="000000"/>
                </a:solidFill>
                <a:latin typeface="Montserrat Semi-Bold"/>
                <a:ea typeface="Montserrat Semi-Bold"/>
                <a:cs typeface="Montserrat Semi-Bold"/>
                <a:sym typeface="Montserrat Semi-Bold"/>
              </a:rPr>
              <a:t>🟪 PATH TO PROFITABILITY</a:t>
            </a:r>
          </a:p>
          <a:p>
            <a:pPr algn="ctr">
              <a:lnSpc>
                <a:spcPts val="3479"/>
              </a:lnSpc>
              <a:spcBef>
                <a:spcPct val="0"/>
              </a:spcBef>
            </a:pPr>
            <a:r>
              <a:rPr lang="en-US" sz="3000">
                <a:solidFill>
                  <a:srgbClr val="000000"/>
                </a:solidFill>
                <a:latin typeface="Montserrat Semi-Bold"/>
                <a:ea typeface="Montserrat Semi-Bold"/>
                <a:cs typeface="Montserrat Semi-Bold"/>
                <a:sym typeface="Montserrat Semi-Bold"/>
              </a:rPr>
              <a:t>RECURRING SAAS INCOME + LOW OPERATING COST → FAST SCALABILITY.</a:t>
            </a:r>
          </a:p>
          <a:p>
            <a:pPr algn="ctr">
              <a:lnSpc>
                <a:spcPts val="3479"/>
              </a:lnSpc>
              <a:spcBef>
                <a:spcPct val="0"/>
              </a:spcBef>
            </a:pPr>
            <a:r>
              <a:rPr lang="en-US" sz="3000">
                <a:solidFill>
                  <a:srgbClr val="000000"/>
                </a:solidFill>
                <a:latin typeface="Montserrat Semi-Bold"/>
                <a:ea typeface="Montserrat Semi-Bold"/>
                <a:cs typeface="Montserrat Semi-Bold"/>
                <a:sym typeface="Montserrat Semi-Bold"/>
              </a:rPr>
              <a:t>MULTIPLE REVENUE STREAMS ENSURE STABLE LONG-TERM GROWTH.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280217" y="227513"/>
            <a:ext cx="4301594" cy="1951100"/>
          </a:xfrm>
          <a:custGeom>
            <a:avLst/>
            <a:gdLst/>
            <a:ahLst/>
            <a:cxnLst/>
            <a:rect r="r" b="b" t="t" l="l"/>
            <a:pathLst>
              <a:path h="1951100" w="4301594">
                <a:moveTo>
                  <a:pt x="0" y="0"/>
                </a:moveTo>
                <a:lnTo>
                  <a:pt x="4301594" y="0"/>
                </a:lnTo>
                <a:lnTo>
                  <a:pt x="4301594" y="1951100"/>
                </a:lnTo>
                <a:lnTo>
                  <a:pt x="0" y="1951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53637">
            <a:off x="-7405448" y="9425434"/>
            <a:ext cx="13720159" cy="13720159"/>
          </a:xfrm>
          <a:custGeom>
            <a:avLst/>
            <a:gdLst/>
            <a:ahLst/>
            <a:cxnLst/>
            <a:rect r="r" b="b" t="t" l="l"/>
            <a:pathLst>
              <a:path h="13720159" w="13720159">
                <a:moveTo>
                  <a:pt x="0" y="0"/>
                </a:moveTo>
                <a:lnTo>
                  <a:pt x="13720159" y="0"/>
                </a:lnTo>
                <a:lnTo>
                  <a:pt x="13720159" y="13720159"/>
                </a:lnTo>
                <a:lnTo>
                  <a:pt x="0" y="137201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6"/>
            <a:stretch>
              <a:fillRect l="0" t="0" r="0" b="0"/>
            </a:stretch>
          </a:blipFill>
        </p:spPr>
      </p:sp>
      <p:sp>
        <p:nvSpPr>
          <p:cNvPr name="Freeform 5" id="5"/>
          <p:cNvSpPr/>
          <p:nvPr/>
        </p:nvSpPr>
        <p:spPr>
          <a:xfrm flipH="false" flipV="false" rot="0">
            <a:off x="4088074" y="1817300"/>
            <a:ext cx="11090121" cy="7989597"/>
          </a:xfrm>
          <a:custGeom>
            <a:avLst/>
            <a:gdLst/>
            <a:ahLst/>
            <a:cxnLst/>
            <a:rect r="r" b="b" t="t" l="l"/>
            <a:pathLst>
              <a:path h="7989597" w="11090121">
                <a:moveTo>
                  <a:pt x="0" y="0"/>
                </a:moveTo>
                <a:lnTo>
                  <a:pt x="11090121" y="0"/>
                </a:lnTo>
                <a:lnTo>
                  <a:pt x="11090121" y="7989597"/>
                </a:lnTo>
                <a:lnTo>
                  <a:pt x="0" y="7989597"/>
                </a:lnTo>
                <a:lnTo>
                  <a:pt x="0" y="0"/>
                </a:lnTo>
                <a:close/>
              </a:path>
            </a:pathLst>
          </a:custGeom>
          <a:blipFill>
            <a:blip r:embed="rId7"/>
            <a:stretch>
              <a:fillRect l="-907" t="0" r="-1328" b="-402"/>
            </a:stretch>
          </a:blipFill>
        </p:spPr>
      </p:sp>
      <p:sp>
        <p:nvSpPr>
          <p:cNvPr name="TextBox 6" id="6"/>
          <p:cNvSpPr txBox="true"/>
          <p:nvPr/>
        </p:nvSpPr>
        <p:spPr>
          <a:xfrm rot="0">
            <a:off x="463057" y="360894"/>
            <a:ext cx="5054153" cy="1099818"/>
          </a:xfrm>
          <a:prstGeom prst="rect">
            <a:avLst/>
          </a:prstGeom>
        </p:spPr>
        <p:txBody>
          <a:bodyPr anchor="t" rtlCol="false" tIns="0" lIns="0" bIns="0" rIns="0">
            <a:spAutoFit/>
          </a:bodyPr>
          <a:lstStyle/>
          <a:p>
            <a:pPr algn="l">
              <a:lnSpc>
                <a:spcPts val="4480"/>
              </a:lnSpc>
              <a:spcBef>
                <a:spcPct val="0"/>
              </a:spcBef>
            </a:pPr>
            <a:r>
              <a:rPr lang="en-US" b="true" sz="3200">
                <a:solidFill>
                  <a:srgbClr val="FFFFFF"/>
                </a:solidFill>
                <a:latin typeface="Montserrat Classic Bold"/>
                <a:ea typeface="Montserrat Classic Bold"/>
                <a:cs typeface="Montserrat Classic Bold"/>
                <a:sym typeface="Montserrat Classic Bold"/>
              </a:rPr>
              <a:t>BUSINESS MODEL CANVAS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1DDC8">
                <a:alpha val="100000"/>
              </a:srgbClr>
            </a:gs>
            <a:gs pos="100000">
              <a:srgbClr val="00779C">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5291458">
            <a:off x="17016680" y="1249202"/>
            <a:ext cx="14194017" cy="14194017"/>
          </a:xfrm>
          <a:custGeom>
            <a:avLst/>
            <a:gdLst/>
            <a:ahLst/>
            <a:cxnLst/>
            <a:rect r="r" b="b" t="t" l="l"/>
            <a:pathLst>
              <a:path h="14194017" w="14194017">
                <a:moveTo>
                  <a:pt x="0" y="0"/>
                </a:moveTo>
                <a:lnTo>
                  <a:pt x="14194017" y="0"/>
                </a:lnTo>
                <a:lnTo>
                  <a:pt x="14194017" y="14194017"/>
                </a:lnTo>
                <a:lnTo>
                  <a:pt x="0" y="141940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91458">
            <a:off x="-11575660" y="4214176"/>
            <a:ext cx="13274588" cy="13274588"/>
          </a:xfrm>
          <a:custGeom>
            <a:avLst/>
            <a:gdLst/>
            <a:ahLst/>
            <a:cxnLst/>
            <a:rect r="r" b="b" t="t" l="l"/>
            <a:pathLst>
              <a:path h="13274588" w="13274588">
                <a:moveTo>
                  <a:pt x="0" y="0"/>
                </a:moveTo>
                <a:lnTo>
                  <a:pt x="13274588" y="0"/>
                </a:lnTo>
                <a:lnTo>
                  <a:pt x="13274588" y="13274588"/>
                </a:lnTo>
                <a:lnTo>
                  <a:pt x="0" y="13274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905147" y="151344"/>
            <a:ext cx="12091998" cy="2323757"/>
          </a:xfrm>
          <a:prstGeom prst="rect">
            <a:avLst/>
          </a:prstGeom>
        </p:spPr>
        <p:txBody>
          <a:bodyPr anchor="t" rtlCol="false" tIns="0" lIns="0" bIns="0" rIns="0">
            <a:spAutoFit/>
          </a:bodyPr>
          <a:lstStyle/>
          <a:p>
            <a:pPr algn="ctr">
              <a:lnSpc>
                <a:spcPts val="18914"/>
              </a:lnSpc>
              <a:spcBef>
                <a:spcPct val="0"/>
              </a:spcBef>
            </a:pPr>
            <a:r>
              <a:rPr lang="en-US" b="true" sz="13510">
                <a:solidFill>
                  <a:srgbClr val="FFFFFF"/>
                </a:solidFill>
                <a:latin typeface="Montserrat Classic Bold"/>
                <a:ea typeface="Montserrat Classic Bold"/>
                <a:cs typeface="Montserrat Classic Bold"/>
                <a:sym typeface="Montserrat Classic Bold"/>
              </a:rPr>
              <a:t>THANK YOU</a:t>
            </a:r>
          </a:p>
        </p:txBody>
      </p:sp>
      <p:sp>
        <p:nvSpPr>
          <p:cNvPr name="TextBox 5" id="5"/>
          <p:cNvSpPr txBox="true"/>
          <p:nvPr/>
        </p:nvSpPr>
        <p:spPr>
          <a:xfrm rot="0">
            <a:off x="4292140" y="2740025"/>
            <a:ext cx="11506833" cy="7546975"/>
          </a:xfrm>
          <a:prstGeom prst="rect">
            <a:avLst/>
          </a:prstGeom>
        </p:spPr>
        <p:txBody>
          <a:bodyPr anchor="t" rtlCol="false" tIns="0" lIns="0" bIns="0" rIns="0">
            <a:spAutoFit/>
          </a:bodyPr>
          <a:lstStyle/>
          <a:p>
            <a:pPr algn="l">
              <a:lnSpc>
                <a:spcPts val="13999"/>
              </a:lnSpc>
            </a:pPr>
          </a:p>
          <a:p>
            <a:pPr algn="l">
              <a:lnSpc>
                <a:spcPts val="13999"/>
              </a:lnSpc>
            </a:pPr>
            <a:r>
              <a:rPr lang="en-US" sz="9999">
                <a:solidFill>
                  <a:srgbClr val="FFFFFF"/>
                </a:solidFill>
                <a:latin typeface="Montserrat Classic"/>
                <a:ea typeface="Montserrat Classic"/>
                <a:cs typeface="Montserrat Classic"/>
                <a:sym typeface="Montserrat Classic"/>
              </a:rPr>
              <a:t>Team name:  </a:t>
            </a:r>
            <a:r>
              <a:rPr lang="en-US" sz="9999">
                <a:solidFill>
                  <a:srgbClr val="F5214C"/>
                </a:solidFill>
                <a:latin typeface="Montserrat Classic"/>
                <a:ea typeface="Montserrat Classic"/>
                <a:cs typeface="Montserrat Classic"/>
                <a:sym typeface="Montserrat Classic"/>
              </a:rPr>
              <a:t>Dynamo</a:t>
            </a:r>
          </a:p>
          <a:p>
            <a:pPr algn="l">
              <a:lnSpc>
                <a:spcPts val="4900"/>
              </a:lnSpc>
            </a:pPr>
            <a:r>
              <a:rPr lang="en-US" sz="3500">
                <a:solidFill>
                  <a:srgbClr val="FFFFFF"/>
                </a:solidFill>
                <a:latin typeface="Montserrat Classic"/>
                <a:ea typeface="Montserrat Classic"/>
                <a:cs typeface="Montserrat Classic"/>
                <a:sym typeface="Montserrat Classic"/>
              </a:rPr>
              <a:t>Eureka! Team ID: EJ25T735273</a:t>
            </a:r>
          </a:p>
          <a:p>
            <a:pPr algn="l">
              <a:lnSpc>
                <a:spcPts val="12499"/>
              </a:lnSpc>
            </a:pPr>
          </a:p>
        </p:txBody>
      </p:sp>
      <p:sp>
        <p:nvSpPr>
          <p:cNvPr name="Freeform 6" id="6"/>
          <p:cNvSpPr/>
          <p:nvPr/>
        </p:nvSpPr>
        <p:spPr>
          <a:xfrm flipH="false" flipV="false" rot="0">
            <a:off x="13625432" y="418044"/>
            <a:ext cx="4347082" cy="969037"/>
          </a:xfrm>
          <a:custGeom>
            <a:avLst/>
            <a:gdLst/>
            <a:ahLst/>
            <a:cxnLst/>
            <a:rect r="r" b="b" t="t" l="l"/>
            <a:pathLst>
              <a:path h="969037" w="4347082">
                <a:moveTo>
                  <a:pt x="0" y="0"/>
                </a:moveTo>
                <a:lnTo>
                  <a:pt x="4347082" y="0"/>
                </a:lnTo>
                <a:lnTo>
                  <a:pt x="4347082" y="969037"/>
                </a:lnTo>
                <a:lnTo>
                  <a:pt x="0" y="969037"/>
                </a:lnTo>
                <a:lnTo>
                  <a:pt x="0" y="0"/>
                </a:lnTo>
                <a:close/>
              </a:path>
            </a:pathLst>
          </a:custGeom>
          <a:blipFill>
            <a:blip r:embed="rId6"/>
            <a:stretch>
              <a:fillRect l="0" t="0" r="0" b="0"/>
            </a:stretch>
          </a:blipFill>
        </p:spPr>
      </p:sp>
      <p:sp>
        <p:nvSpPr>
          <p:cNvPr name="Freeform 7" id="7"/>
          <p:cNvSpPr/>
          <p:nvPr/>
        </p:nvSpPr>
        <p:spPr>
          <a:xfrm flipH="false" flipV="false" rot="0">
            <a:off x="1504340" y="3025605"/>
            <a:ext cx="1595106" cy="1964704"/>
          </a:xfrm>
          <a:custGeom>
            <a:avLst/>
            <a:gdLst/>
            <a:ahLst/>
            <a:cxnLst/>
            <a:rect r="r" b="b" t="t" l="l"/>
            <a:pathLst>
              <a:path h="1964704" w="1595106">
                <a:moveTo>
                  <a:pt x="0" y="0"/>
                </a:moveTo>
                <a:lnTo>
                  <a:pt x="1595106" y="0"/>
                </a:lnTo>
                <a:lnTo>
                  <a:pt x="1595106" y="1964704"/>
                </a:lnTo>
                <a:lnTo>
                  <a:pt x="0" y="1964704"/>
                </a:lnTo>
                <a:lnTo>
                  <a:pt x="0" y="0"/>
                </a:lnTo>
                <a:close/>
              </a:path>
            </a:pathLst>
          </a:custGeom>
          <a:blipFill>
            <a:blip r:embed="rId7"/>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DAG5fuq-7xU</dc:identifier>
  <dcterms:modified xsi:type="dcterms:W3CDTF">2011-08-01T06:04:30Z</dcterms:modified>
  <cp:revision>1</cp:revision>
  <dc:title>Dynamo Pitch Deck At IIT Bombay</dc:title>
</cp:coreProperties>
</file>